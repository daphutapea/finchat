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a:solidFill>
                  <a:srgbClr val="1E293B"/>
                </a:solidFill>
              </a:rPr>
              <a:t>FinanceBench benchmark: before vs after</a:t>
            </a:r>
          </a:p>
        </c:rich>
      </c:tx>
      <c:layout/>
      <c:overlay val="0"/>
    </c:title>
    <c:autoTitleDeleted val="0"/>
    <c:plotArea>
      <c:barChart>
        <c:barDir val="col"/>
        <c:grouping val="clustered"/>
        <c:ser>
          <c:idx val="0"/>
          <c:order val="0"/>
          <c:tx>
            <c:strRef>
              <c:f>Sheet1!$B$1</c:f>
              <c:strCache>
                <c:ptCount val="1"/>
                <c:pt idx="0">
                  <c:v>Plain text RAG</c:v>
                </c:pt>
              </c:strCache>
            </c:strRef>
          </c:tx>
          <c:spPr>
            <a:solidFill>
              <a:srgbClr val="94A3B8"/>
            </a:solidFill>
          </c:spPr>
          <c:cat>
            <c:strRef>
              <c:f>Sheet1!$A$2:$A$3</c:f>
              <c:strCache>
                <c:ptCount val="2"/>
                <c:pt idx="0">
                  <c:v>Overall accuracy</c:v>
                </c:pt>
                <c:pt idx="1">
                  <c:v>Numeric questions</c:v>
                </c:pt>
              </c:strCache>
            </c:strRef>
          </c:cat>
          <c:val>
            <c:numRef>
              <c:f>Sheet1!$B$2:$B$3</c:f>
              <c:numCache>
                <c:formatCode>General</c:formatCode>
                <c:ptCount val="2"/>
                <c:pt idx="0">
                  <c:v>20</c:v>
                </c:pt>
                <c:pt idx="1">
                  <c:v>0</c:v>
                </c:pt>
              </c:numCache>
            </c:numRef>
          </c:val>
        </c:ser>
        <c:ser>
          <c:idx val="1"/>
          <c:order val="1"/>
          <c:tx>
            <c:strRef>
              <c:f>Sheet1!$C$1</c:f>
              <c:strCache>
                <c:ptCount val="1"/>
                <c:pt idx="0">
                  <c:v>FinChat (hybrid)</c:v>
                </c:pt>
              </c:strCache>
            </c:strRef>
          </c:tx>
          <c:spPr>
            <a:solidFill>
              <a:srgbClr val="10B981"/>
            </a:solidFill>
          </c:spPr>
          <c:cat>
            <c:strRef>
              <c:f>Sheet1!$A$2:$A$3</c:f>
              <c:strCache>
                <c:ptCount val="2"/>
                <c:pt idx="0">
                  <c:v>Overall accuracy</c:v>
                </c:pt>
                <c:pt idx="1">
                  <c:v>Numeric questions</c:v>
                </c:pt>
              </c:strCache>
            </c:strRef>
          </c:cat>
          <c:val>
            <c:numRef>
              <c:f>Sheet1!$C$2:$C$3</c:f>
              <c:numCache>
                <c:formatCode>General</c:formatCode>
                <c:ptCount val="2"/>
                <c:pt idx="0">
                  <c:v>50</c:v>
                </c:pt>
                <c:pt idx="1">
                  <c:v>50</c:v>
                </c:pt>
              </c:numCache>
            </c:numRef>
          </c:val>
        </c:ser>
        <c:dLbls>
          <c:numFmt formatCode="0&quot;%&quot;" sourceLinked="0"/>
          <c:txPr>
            <a:bodyPr/>
            <a:lstStyle/>
            <a:p>
              <a:pPr>
                <a:defRPr sz="1100" b="1"/>
              </a:pPr>
            </a:p>
          </c:txPr>
          <c:showLegendKey val="0"/>
          <c:showVal val="1"/>
          <c:showCatName val="0"/>
          <c:showSerName val="0"/>
          <c:showPercent val="0"/>
          <c:showBubbleSize val="0"/>
          <c:showLeaderLines val="1"/>
        </c:dLbls>
        <c:gapWidth val="8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ax val="60.0"/>
          <c:min val="0.0"/>
        </c:scaling>
        <c:delete val="0"/>
        <c:axPos val="l"/>
        <c:majorGridlines/>
        <c:majorTickMark val="out"/>
        <c:minorTickMark val="none"/>
        <c:tickLblPos val="nextTo"/>
        <c:txPr>
          <a:bodyPr/>
          <a:lstStyle/>
          <a:p>
            <a:pPr>
              <a:defRPr sz="1000"/>
            </a:pPr>
          </a:p>
        </c:txPr>
        <c:crossAx val="-2068027336"/>
        <c:crosses val="autoZero"/>
      </c:valAx>
    </c:plotArea>
    <c:legend>
      <c:legendPos val="b"/>
      <c:overlay val="0"/>
      <c:txPr>
        <a:bodyPr/>
        <a:lstStyle/>
        <a:p>
          <a:pPr>
            <a:defRPr sz="11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confidently: 'This is FinChat - a chatbot I built that answers questions about public companies using their official SEC annual reports. You ask it something in plain English, and it finds the answer in the real filing and shows you exactly where it came from.' Mention it's live on the internet and built entirely with free tools. Keep this to ~20 seconds, then move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pain. 1) These filings are huge - nobody wants to read 100 pages to find one number. 2) A plain chatbot like ChatGPT will happily invent an answer - dangerous in finance. 3) And even when they try, language models can't reliably do math. So the challenge is: answers that are grounded in the real document AND correct on numbers. That's what FinChat solves.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RAG with the open-book-exam analogy - that lands with everyone. Instead of asking the AI from memory (closed book), we first look up the relevant pages and let it answer from those (open book). Walk the three steps: Retrieve, Augment, Generate. Then the payoff line: because it can only use what we retrieved, it can't make things up, it always cites its source, and it can use documents the model never saw in training.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live-demo moment - if you can, open the actual Space here and type a question. If not, walk through these two examples. Point out two things: (1) every answer ends with a Source, so you can verify it against the real filing, and (2) the second example is a NUMBER - a quick ratio - which is the hard part most systems fail. Tell them the next slides explain how it does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the names are recognizable - Apple, Microsoft, Google, Amazon, NVIDIA, Tesla, JPMorgan. That matters for a demo: people can sanity-check the answers against companies they know. Note the data is REAL and RECENT - pulled straight from the government's SEC EDGAR system, not a toy dataset. And I deliberately picked companies that also appear in a public benchmark (FinanceBench) so I could score myself honestly - more on that later.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simple. There are two flows. TOP: a one-time setup that reads all the filings, breaks them into small passages, converts each into a mathematical 'fingerprint' (an embedding) that captures its meaning, and stores everything in a searchable database. BOTTOM: what happens on every question - figure out which company it's about, fetch the most relevant passages, and let the AI write the answer from them with citations. Don't over-explain embeddings; 'a fingerprint of the meaning so similar text is easy to find' is enough for this audience.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slow down on - it's the clever part. Financial figures live in tables. When you turn a table into plain text, '383,285' loses its row label ('Net sales') and its column ('2023'). That's the 'number soup' on the left - the AI literally can't tell which number is revenue. The fix: SEC filings secretly contain the same numbers in a machine-readable format called XBRL, where every value is tagged. FinChat extracts THAT and feeds the AI clean, labelled figures (right). This one idea is what took the benchmark score from 20% to 50%.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important design decision here: I do NOT ask the AI to calculate ratios, because AIs get math wrong. Instead I wrote plain Python that computes them exactly - margins, quick ratio, return on equity, EBITDA, free cash flow, and how each changed versus last year - and I store those results so the AI just reads them. It's the 'right tool for the job' principle: use a calculator for arithmetic, use the AI for language. I also handle edge cases - banks don't have a normal balance sheet, so I only compute the ratios that make sense for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 is everything in finance, so I built three guarantees. One: it routes to the right company first, so an Apple question never gets answered from Microsoft's filing. Two: every single answer is cited - you can always check it against the source. Three, and most important: if the answer genuinely isn't in the documents, it SAYS 'I couldn't find that' rather than inventing something. A system that admits what it doesn't know is far more useful than one that bluffs.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and specific here - that's what earns credibility. Two measurements. First, on the qualitative task it's designed for, it scores 93%. Second, I tested it on FinanceBench - a hard, expert-written public benchmark. Plain text RAG scored 20%; my hybrid version scored 50% - more than double, and the purely numeric questions went from 0% to 50%. I even put it in context: GPT-4 in a basic setup scores about 19% on the same test, so 50% is a strong result. Being upfront that it's not 100% - and explaining why - is a strength, not a weakness.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2-3 of these to tell as short stories - interviewers love 'tell me about a challenge.' The best two: (1) the 'number soup' problem and how I solved it with structured data - that's the technical highlight. (2) The OneDrive disaster - the cloud sync kept locking and corrupting my database and even deleted my environment once; I diagnosed it and moved everything to a clean local folder. It shows real debugging. Don't read all six - just gesture at the grid and dive into a couple.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strong. Recap the four numbers: 25 real companies, 93% on its core task, doubled the benchmark from 20 to 50, and it's live on the internet right now. Offer the link so they can try it themselves. Mention one honest 'next step' - the hardest questions need multi-step reasoning I haven't built yet - which shows you know the system's limits. Then thank them and invite questions. If asked a technical question, the walkthrough document has your answers.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E33"/>
        </a:solidFill>
        <a:effectLst/>
      </p:bgPr>
    </p:bg>
    <p:spTree>
      <p:nvGrpSpPr>
        <p:cNvPr id="1" name=""/>
        <p:cNvGrpSpPr/>
        <p:nvPr/>
      </p:nvGrpSpPr>
      <p:grpSpPr/>
      <p:sp>
        <p:nvSpPr>
          <p:cNvPr id="2" name="Oval 1"/>
          <p:cNvSpPr/>
          <p:nvPr/>
        </p:nvSpPr>
        <p:spPr>
          <a:xfrm>
            <a:off x="914400" y="1280160"/>
            <a:ext cx="146304" cy="146304"/>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07008" y="1280160"/>
            <a:ext cx="146304" cy="146304"/>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499616" y="1280160"/>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10058400" cy="1463040"/>
          </a:xfrm>
          <a:prstGeom prst="rect">
            <a:avLst/>
          </a:prstGeom>
          <a:noFill/>
        </p:spPr>
        <p:txBody>
          <a:bodyPr wrap="square" anchor="t" lIns="0" rIns="0" tIns="0" bIns="0">
            <a:spAutoFit/>
          </a:bodyPr>
          <a:lstStyle/>
          <a:p>
            <a:pPr algn="l">
              <a:spcAft>
                <a:spcPts val="600"/>
              </a:spcAft>
            </a:pPr>
            <a:r>
              <a:rPr sz="7200" b="1" i="0">
                <a:solidFill>
                  <a:srgbClr val="FFFFFF"/>
                </a:solidFill>
                <a:latin typeface="Cambria"/>
              </a:rPr>
              <a:t>Fin</a:t>
            </a:r>
            <a:r>
              <a:rPr sz="7200" b="1" i="0">
                <a:solidFill>
                  <a:srgbClr val="38BDF8"/>
                </a:solidFill>
                <a:latin typeface="Cambria"/>
              </a:rPr>
              <a:t>Chat</a:t>
            </a:r>
          </a:p>
        </p:txBody>
      </p:sp>
      <p:sp>
        <p:nvSpPr>
          <p:cNvPr id="6" name="TextBox 5"/>
          <p:cNvSpPr txBox="1"/>
          <p:nvPr/>
        </p:nvSpPr>
        <p:spPr>
          <a:xfrm>
            <a:off x="914400" y="3063240"/>
            <a:ext cx="10058400" cy="914400"/>
          </a:xfrm>
          <a:prstGeom prst="rect">
            <a:avLst/>
          </a:prstGeom>
          <a:noFill/>
        </p:spPr>
        <p:txBody>
          <a:bodyPr wrap="square" anchor="t" lIns="0" rIns="0" tIns="0" bIns="0">
            <a:spAutoFit/>
          </a:bodyPr>
          <a:lstStyle/>
          <a:p>
            <a:pPr algn="l">
              <a:spcAft>
                <a:spcPts val="600"/>
              </a:spcAft>
            </a:pPr>
            <a:r>
              <a:rPr sz="2400" b="0" i="0">
                <a:solidFill>
                  <a:srgbClr val="CBD5E1"/>
                </a:solidFill>
                <a:latin typeface="Calibri"/>
              </a:rPr>
              <a:t>A Retrieval-Augmented Q&amp;A Chatbot for SEC Financial Filings</a:t>
            </a:r>
          </a:p>
        </p:txBody>
      </p:sp>
      <p:sp>
        <p:nvSpPr>
          <p:cNvPr id="7" name="TextBox 6"/>
          <p:cNvSpPr txBox="1"/>
          <p:nvPr/>
        </p:nvSpPr>
        <p:spPr>
          <a:xfrm>
            <a:off x="914400" y="3977639"/>
            <a:ext cx="10332720" cy="548640"/>
          </a:xfrm>
          <a:prstGeom prst="rect">
            <a:avLst/>
          </a:prstGeom>
          <a:noFill/>
        </p:spPr>
        <p:txBody>
          <a:bodyPr wrap="square" anchor="t" lIns="0" rIns="0" tIns="0" bIns="0">
            <a:spAutoFit/>
          </a:bodyPr>
          <a:lstStyle/>
          <a:p>
            <a:pPr algn="l">
              <a:spcAft>
                <a:spcPts val="600"/>
              </a:spcAft>
            </a:pPr>
            <a:r>
              <a:rPr sz="1500" b="0" i="1">
                <a:solidFill>
                  <a:srgbClr val="94A3B8"/>
                </a:solidFill>
                <a:latin typeface="Calibri"/>
              </a:rPr>
              <a:t>Ask plain-English questions about 25 major companies' annual reports - and get grounded, cited answers.</a:t>
            </a:r>
          </a:p>
        </p:txBody>
      </p:sp>
      <p:sp>
        <p:nvSpPr>
          <p:cNvPr id="8" name="Rounded Rectangle 7"/>
          <p:cNvSpPr/>
          <p:nvPr/>
        </p:nvSpPr>
        <p:spPr>
          <a:xfrm>
            <a:off x="914400" y="4892040"/>
            <a:ext cx="585216" cy="457200"/>
          </a:xfrm>
          <a:prstGeom prst="roundRect">
            <a:avLst>
              <a:gd name="adj" fmla="val 50000"/>
            </a:avLst>
          </a:prstGeom>
          <a:solidFill>
            <a:srgbClr val="16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892040"/>
            <a:ext cx="585216" cy="457200"/>
          </a:xfrm>
          <a:prstGeom prst="rect">
            <a:avLst/>
          </a:prstGeom>
          <a:noFill/>
        </p:spPr>
        <p:txBody>
          <a:bodyPr wrap="square" anchor="ctr" lIns="0" rIns="0" tIns="0" bIns="0">
            <a:spAutoFit/>
          </a:bodyPr>
          <a:lstStyle/>
          <a:p>
            <a:pPr algn="ctr">
              <a:spcAft>
                <a:spcPts val="0"/>
              </a:spcAft>
            </a:pPr>
            <a:r>
              <a:rPr sz="1200" b="0" i="0">
                <a:solidFill>
                  <a:srgbClr val="38BDF8"/>
                </a:solidFill>
                <a:latin typeface="Calibri"/>
              </a:rPr>
              <a:t>RAG</a:t>
            </a:r>
          </a:p>
        </p:txBody>
      </p:sp>
      <p:sp>
        <p:nvSpPr>
          <p:cNvPr id="10" name="Rounded Rectangle 9"/>
          <p:cNvSpPr/>
          <p:nvPr/>
        </p:nvSpPr>
        <p:spPr>
          <a:xfrm>
            <a:off x="1682496" y="4892040"/>
            <a:ext cx="1243584" cy="457200"/>
          </a:xfrm>
          <a:prstGeom prst="roundRect">
            <a:avLst>
              <a:gd name="adj" fmla="val 50000"/>
            </a:avLst>
          </a:prstGeom>
          <a:solidFill>
            <a:srgbClr val="16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82496" y="4892040"/>
            <a:ext cx="1243584" cy="457200"/>
          </a:xfrm>
          <a:prstGeom prst="rect">
            <a:avLst/>
          </a:prstGeom>
          <a:noFill/>
        </p:spPr>
        <p:txBody>
          <a:bodyPr wrap="square" anchor="ctr" lIns="0" rIns="0" tIns="0" bIns="0">
            <a:spAutoFit/>
          </a:bodyPr>
          <a:lstStyle/>
          <a:p>
            <a:pPr algn="ctr">
              <a:spcAft>
                <a:spcPts val="0"/>
              </a:spcAft>
            </a:pPr>
            <a:r>
              <a:rPr sz="1200" b="0" i="0">
                <a:solidFill>
                  <a:srgbClr val="38BDF8"/>
                </a:solidFill>
                <a:latin typeface="Calibri"/>
              </a:rPr>
              <a:t>LangChain</a:t>
            </a:r>
          </a:p>
        </p:txBody>
      </p:sp>
      <p:sp>
        <p:nvSpPr>
          <p:cNvPr id="12" name="Rounded Rectangle 11"/>
          <p:cNvSpPr/>
          <p:nvPr/>
        </p:nvSpPr>
        <p:spPr>
          <a:xfrm>
            <a:off x="3108960" y="4892040"/>
            <a:ext cx="1133856" cy="457200"/>
          </a:xfrm>
          <a:prstGeom prst="roundRect">
            <a:avLst>
              <a:gd name="adj" fmla="val 50000"/>
            </a:avLst>
          </a:prstGeom>
          <a:solidFill>
            <a:srgbClr val="16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08960" y="4892040"/>
            <a:ext cx="1133856" cy="457200"/>
          </a:xfrm>
          <a:prstGeom prst="rect">
            <a:avLst/>
          </a:prstGeom>
          <a:noFill/>
        </p:spPr>
        <p:txBody>
          <a:bodyPr wrap="square" anchor="ctr" lIns="0" rIns="0" tIns="0" bIns="0">
            <a:spAutoFit/>
          </a:bodyPr>
          <a:lstStyle/>
          <a:p>
            <a:pPr algn="ctr">
              <a:spcAft>
                <a:spcPts val="0"/>
              </a:spcAft>
            </a:pPr>
            <a:r>
              <a:rPr sz="1200" b="0" i="0">
                <a:solidFill>
                  <a:srgbClr val="38BDF8"/>
                </a:solidFill>
                <a:latin typeface="Calibri"/>
              </a:rPr>
              <a:t>ChromaDB</a:t>
            </a:r>
          </a:p>
        </p:txBody>
      </p:sp>
      <p:sp>
        <p:nvSpPr>
          <p:cNvPr id="14" name="Rounded Rectangle 13"/>
          <p:cNvSpPr/>
          <p:nvPr/>
        </p:nvSpPr>
        <p:spPr>
          <a:xfrm>
            <a:off x="4425696" y="4892040"/>
            <a:ext cx="2011680" cy="457200"/>
          </a:xfrm>
          <a:prstGeom prst="roundRect">
            <a:avLst>
              <a:gd name="adj" fmla="val 50000"/>
            </a:avLst>
          </a:prstGeom>
          <a:solidFill>
            <a:srgbClr val="16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5696" y="4892040"/>
            <a:ext cx="2011680" cy="457200"/>
          </a:xfrm>
          <a:prstGeom prst="rect">
            <a:avLst/>
          </a:prstGeom>
          <a:noFill/>
        </p:spPr>
        <p:txBody>
          <a:bodyPr wrap="square" anchor="ctr" lIns="0" rIns="0" tIns="0" bIns="0">
            <a:spAutoFit/>
          </a:bodyPr>
          <a:lstStyle/>
          <a:p>
            <a:pPr algn="ctr">
              <a:spcAft>
                <a:spcPts val="0"/>
              </a:spcAft>
            </a:pPr>
            <a:r>
              <a:rPr sz="1200" b="0" i="0">
                <a:solidFill>
                  <a:srgbClr val="38BDF8"/>
                </a:solidFill>
                <a:latin typeface="Calibri"/>
              </a:rPr>
              <a:t>Llama 3.3 (Groq)</a:t>
            </a:r>
          </a:p>
        </p:txBody>
      </p:sp>
      <p:sp>
        <p:nvSpPr>
          <p:cNvPr id="16" name="Rounded Rectangle 15"/>
          <p:cNvSpPr/>
          <p:nvPr/>
        </p:nvSpPr>
        <p:spPr>
          <a:xfrm>
            <a:off x="6620256" y="4892040"/>
            <a:ext cx="694944" cy="457200"/>
          </a:xfrm>
          <a:prstGeom prst="roundRect">
            <a:avLst>
              <a:gd name="adj" fmla="val 50000"/>
            </a:avLst>
          </a:prstGeom>
          <a:solidFill>
            <a:srgbClr val="16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0256" y="4892040"/>
            <a:ext cx="694944" cy="457200"/>
          </a:xfrm>
          <a:prstGeom prst="rect">
            <a:avLst/>
          </a:prstGeom>
          <a:noFill/>
        </p:spPr>
        <p:txBody>
          <a:bodyPr wrap="square" anchor="ctr" lIns="0" rIns="0" tIns="0" bIns="0">
            <a:spAutoFit/>
          </a:bodyPr>
          <a:lstStyle/>
          <a:p>
            <a:pPr algn="ctr">
              <a:spcAft>
                <a:spcPts val="0"/>
              </a:spcAft>
            </a:pPr>
            <a:r>
              <a:rPr sz="1200" b="0" i="0">
                <a:solidFill>
                  <a:srgbClr val="38BDF8"/>
                </a:solidFill>
                <a:latin typeface="Calibri"/>
              </a:rPr>
              <a:t>XBRL</a:t>
            </a:r>
          </a:p>
        </p:txBody>
      </p:sp>
      <p:sp>
        <p:nvSpPr>
          <p:cNvPr id="18" name="Rounded Rectangle 17"/>
          <p:cNvSpPr/>
          <p:nvPr/>
        </p:nvSpPr>
        <p:spPr>
          <a:xfrm>
            <a:off x="7498079" y="4892040"/>
            <a:ext cx="1024128" cy="457200"/>
          </a:xfrm>
          <a:prstGeom prst="roundRect">
            <a:avLst>
              <a:gd name="adj" fmla="val 50000"/>
            </a:avLst>
          </a:prstGeom>
          <a:solidFill>
            <a:srgbClr val="16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79" y="4892040"/>
            <a:ext cx="1024128" cy="457200"/>
          </a:xfrm>
          <a:prstGeom prst="rect">
            <a:avLst/>
          </a:prstGeom>
          <a:noFill/>
        </p:spPr>
        <p:txBody>
          <a:bodyPr wrap="square" anchor="ctr" lIns="0" rIns="0" tIns="0" bIns="0">
            <a:spAutoFit/>
          </a:bodyPr>
          <a:lstStyle/>
          <a:p>
            <a:pPr algn="ctr">
              <a:spcAft>
                <a:spcPts val="0"/>
              </a:spcAft>
            </a:pPr>
            <a:r>
              <a:rPr sz="1200" b="0" i="0">
                <a:solidFill>
                  <a:srgbClr val="38BDF8"/>
                </a:solidFill>
                <a:latin typeface="Calibri"/>
              </a:rPr>
              <a:t>Next.js</a:t>
            </a:r>
          </a:p>
        </p:txBody>
      </p:sp>
      <p:sp>
        <p:nvSpPr>
          <p:cNvPr id="20" name="TextBox 19"/>
          <p:cNvSpPr txBox="1"/>
          <p:nvPr/>
        </p:nvSpPr>
        <p:spPr>
          <a:xfrm>
            <a:off x="914400" y="5943600"/>
            <a:ext cx="10058400" cy="457200"/>
          </a:xfrm>
          <a:prstGeom prst="rect">
            <a:avLst/>
          </a:prstGeom>
          <a:noFill/>
        </p:spPr>
        <p:txBody>
          <a:bodyPr wrap="square" anchor="t" lIns="0" rIns="0" tIns="0" bIns="0">
            <a:spAutoFit/>
          </a:bodyPr>
          <a:lstStyle/>
          <a:p>
            <a:pPr algn="l">
              <a:spcAft>
                <a:spcPts val="600"/>
              </a:spcAft>
            </a:pPr>
            <a:r>
              <a:rPr sz="1400" b="0" i="0">
                <a:solidFill>
                  <a:srgbClr val="94A3B8"/>
                </a:solidFill>
                <a:latin typeface="Calibri"/>
              </a:rPr>
              <a:t>Daffa Narendra Hutapea   ·   Data Science Portfolio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658368" y="566928"/>
            <a:ext cx="109728" cy="1097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058400" cy="365760"/>
          </a:xfrm>
          <a:prstGeom prst="rect">
            <a:avLst/>
          </a:prstGeom>
          <a:noFill/>
        </p:spPr>
        <p:txBody>
          <a:bodyPr wrap="square" anchor="t" lIns="0" rIns="0" tIns="0" bIns="0">
            <a:spAutoFit/>
          </a:bodyPr>
          <a:lstStyle/>
          <a:p>
            <a:pPr algn="l">
              <a:spcAft>
                <a:spcPts val="600"/>
              </a:spcAft>
            </a:pPr>
            <a:r>
              <a:rPr sz="1300" b="1" i="0">
                <a:solidFill>
                  <a:srgbClr val="0D9488"/>
                </a:solidFill>
                <a:latin typeface="Calibri"/>
              </a:rPr>
              <a:t>01 · THE PROBLEM</a:t>
            </a:r>
          </a:p>
        </p:txBody>
      </p:sp>
      <p:sp>
        <p:nvSpPr>
          <p:cNvPr id="4" name="TextBox 3"/>
          <p:cNvSpPr txBox="1"/>
          <p:nvPr/>
        </p:nvSpPr>
        <p:spPr>
          <a:xfrm>
            <a:off x="640080" y="777240"/>
            <a:ext cx="10972800" cy="822960"/>
          </a:xfrm>
          <a:prstGeom prst="rect">
            <a:avLst/>
          </a:prstGeom>
          <a:noFill/>
        </p:spPr>
        <p:txBody>
          <a:bodyPr wrap="square" anchor="t" lIns="0" rIns="0" tIns="0" bIns="0">
            <a:spAutoFit/>
          </a:bodyPr>
          <a:lstStyle/>
          <a:p>
            <a:pPr algn="l">
              <a:spcAft>
                <a:spcPts val="600"/>
              </a:spcAft>
            </a:pPr>
            <a:r>
              <a:rPr sz="3400" b="1" i="0">
                <a:solidFill>
                  <a:srgbClr val="1E293B"/>
                </a:solidFill>
                <a:latin typeface="Cambria"/>
              </a:rPr>
              <a:t>Company reports are a wall of text and tables</a:t>
            </a:r>
          </a:p>
        </p:txBody>
      </p:sp>
      <p:sp>
        <p:nvSpPr>
          <p:cNvPr id="5" name="Rounded Rectangle 4"/>
          <p:cNvSpPr/>
          <p:nvPr/>
        </p:nvSpPr>
        <p:spPr>
          <a:xfrm>
            <a:off x="640080" y="1920240"/>
            <a:ext cx="3566160" cy="356616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2286000"/>
            <a:ext cx="256032" cy="25603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743200"/>
            <a:ext cx="2834640" cy="822960"/>
          </a:xfrm>
          <a:prstGeom prst="rect">
            <a:avLst/>
          </a:prstGeom>
          <a:noFill/>
        </p:spPr>
        <p:txBody>
          <a:bodyPr wrap="square" anchor="t" lIns="0" rIns="0" tIns="0" bIns="0">
            <a:spAutoFit/>
          </a:bodyPr>
          <a:lstStyle/>
          <a:p>
            <a:pPr algn="l">
              <a:spcAft>
                <a:spcPts val="600"/>
              </a:spcAft>
            </a:pPr>
            <a:r>
              <a:rPr sz="1900" b="1" i="0">
                <a:solidFill>
                  <a:srgbClr val="1E293B"/>
                </a:solidFill>
                <a:latin typeface="Cambria"/>
              </a:rPr>
              <a:t>100+ pages, per company</a:t>
            </a:r>
          </a:p>
        </p:txBody>
      </p:sp>
      <p:sp>
        <p:nvSpPr>
          <p:cNvPr id="8" name="TextBox 7"/>
          <p:cNvSpPr txBox="1"/>
          <p:nvPr/>
        </p:nvSpPr>
        <p:spPr>
          <a:xfrm>
            <a:off x="1005840" y="3611880"/>
            <a:ext cx="2834640" cy="1645920"/>
          </a:xfrm>
          <a:prstGeom prst="rect">
            <a:avLst/>
          </a:prstGeom>
          <a:noFill/>
        </p:spPr>
        <p:txBody>
          <a:bodyPr wrap="square" anchor="t" lIns="0" rIns="0" tIns="0" bIns="0">
            <a:spAutoFit/>
          </a:bodyPr>
          <a:lstStyle/>
          <a:p>
            <a:pPr algn="l">
              <a:lnSpc>
                <a:spcPct val="115000"/>
              </a:lnSpc>
              <a:spcAft>
                <a:spcPts val="600"/>
              </a:spcAft>
            </a:pPr>
            <a:r>
              <a:rPr sz="1450" b="0" i="0">
                <a:solidFill>
                  <a:srgbClr val="64748B"/>
                </a:solidFill>
                <a:latin typeface="Calibri"/>
              </a:rPr>
              <a:t>A single 10-K annual report is dense text plus dozens of financial tables. Finding one answer means a lot of manual reading.</a:t>
            </a:r>
          </a:p>
        </p:txBody>
      </p:sp>
      <p:sp>
        <p:nvSpPr>
          <p:cNvPr id="9" name="Rounded Rectangle 8"/>
          <p:cNvSpPr/>
          <p:nvPr/>
        </p:nvSpPr>
        <p:spPr>
          <a:xfrm>
            <a:off x="4389120" y="1920240"/>
            <a:ext cx="3566160" cy="3566160"/>
          </a:xfrm>
          <a:prstGeom prst="roundRect">
            <a:avLst>
              <a:gd name="adj" fmla="val 8000"/>
            </a:avLst>
          </a:prstGeom>
          <a:solidFill>
            <a:srgbClr val="FD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754880" y="2286000"/>
            <a:ext cx="256032" cy="2560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2743200"/>
            <a:ext cx="2834640" cy="822960"/>
          </a:xfrm>
          <a:prstGeom prst="rect">
            <a:avLst/>
          </a:prstGeom>
          <a:noFill/>
        </p:spPr>
        <p:txBody>
          <a:bodyPr wrap="square" anchor="t" lIns="0" rIns="0" tIns="0" bIns="0">
            <a:spAutoFit/>
          </a:bodyPr>
          <a:lstStyle/>
          <a:p>
            <a:pPr algn="l">
              <a:spcAft>
                <a:spcPts val="600"/>
              </a:spcAft>
            </a:pPr>
            <a:r>
              <a:rPr sz="1900" b="1" i="0">
                <a:solidFill>
                  <a:srgbClr val="1E293B"/>
                </a:solidFill>
                <a:latin typeface="Cambria"/>
              </a:rPr>
              <a:t>AI models make things up</a:t>
            </a:r>
          </a:p>
        </p:txBody>
      </p:sp>
      <p:sp>
        <p:nvSpPr>
          <p:cNvPr id="12" name="TextBox 11"/>
          <p:cNvSpPr txBox="1"/>
          <p:nvPr/>
        </p:nvSpPr>
        <p:spPr>
          <a:xfrm>
            <a:off x="4754880" y="3611880"/>
            <a:ext cx="2834640" cy="1645920"/>
          </a:xfrm>
          <a:prstGeom prst="rect">
            <a:avLst/>
          </a:prstGeom>
          <a:noFill/>
        </p:spPr>
        <p:txBody>
          <a:bodyPr wrap="square" anchor="t" lIns="0" rIns="0" tIns="0" bIns="0">
            <a:spAutoFit/>
          </a:bodyPr>
          <a:lstStyle/>
          <a:p>
            <a:pPr algn="l">
              <a:lnSpc>
                <a:spcPct val="115000"/>
              </a:lnSpc>
              <a:spcAft>
                <a:spcPts val="600"/>
              </a:spcAft>
            </a:pPr>
            <a:r>
              <a:rPr sz="1450" b="0" i="0">
                <a:solidFill>
                  <a:srgbClr val="64748B"/>
                </a:solidFill>
                <a:latin typeface="Calibri"/>
              </a:rPr>
              <a:t>Ask a normal chatbot a factual question and it will often answer confidently - even when it's wrong. That's called 'hallucination.'</a:t>
            </a:r>
          </a:p>
        </p:txBody>
      </p:sp>
      <p:sp>
        <p:nvSpPr>
          <p:cNvPr id="13" name="Rounded Rectangle 12"/>
          <p:cNvSpPr/>
          <p:nvPr/>
        </p:nvSpPr>
        <p:spPr>
          <a:xfrm>
            <a:off x="8138159" y="1920240"/>
            <a:ext cx="3566160" cy="356616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03919" y="2286000"/>
            <a:ext cx="256032" cy="256032"/>
          </a:xfrm>
          <a:prstGeom prst="ellips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19" y="2743200"/>
            <a:ext cx="2834640" cy="822960"/>
          </a:xfrm>
          <a:prstGeom prst="rect">
            <a:avLst/>
          </a:prstGeom>
          <a:noFill/>
        </p:spPr>
        <p:txBody>
          <a:bodyPr wrap="square" anchor="t" lIns="0" rIns="0" tIns="0" bIns="0">
            <a:spAutoFit/>
          </a:bodyPr>
          <a:lstStyle/>
          <a:p>
            <a:pPr algn="l">
              <a:spcAft>
                <a:spcPts val="600"/>
              </a:spcAft>
            </a:pPr>
            <a:r>
              <a:rPr sz="1900" b="1" i="0">
                <a:solidFill>
                  <a:srgbClr val="1E293B"/>
                </a:solidFill>
                <a:latin typeface="Cambria"/>
              </a:rPr>
              <a:t>AI models are bad at numbers</a:t>
            </a:r>
          </a:p>
        </p:txBody>
      </p:sp>
      <p:sp>
        <p:nvSpPr>
          <p:cNvPr id="16" name="TextBox 15"/>
          <p:cNvSpPr txBox="1"/>
          <p:nvPr/>
        </p:nvSpPr>
        <p:spPr>
          <a:xfrm>
            <a:off x="8503919" y="3611880"/>
            <a:ext cx="2834640" cy="1645920"/>
          </a:xfrm>
          <a:prstGeom prst="rect">
            <a:avLst/>
          </a:prstGeom>
          <a:noFill/>
        </p:spPr>
        <p:txBody>
          <a:bodyPr wrap="square" anchor="t" lIns="0" rIns="0" tIns="0" bIns="0">
            <a:spAutoFit/>
          </a:bodyPr>
          <a:lstStyle/>
          <a:p>
            <a:pPr algn="l">
              <a:lnSpc>
                <a:spcPct val="115000"/>
              </a:lnSpc>
              <a:spcAft>
                <a:spcPts val="600"/>
              </a:spcAft>
            </a:pPr>
            <a:r>
              <a:rPr sz="1450" b="0" i="0">
                <a:solidFill>
                  <a:srgbClr val="64748B"/>
                </a:solidFill>
                <a:latin typeface="Calibri"/>
              </a:rPr>
              <a:t>Large language models are surprisingly unreliable at arithmetic - so 'what's the profit margin?' is exactly where they fail.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658368" y="566928"/>
            <a:ext cx="109728" cy="1097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058400" cy="365760"/>
          </a:xfrm>
          <a:prstGeom prst="rect">
            <a:avLst/>
          </a:prstGeom>
          <a:noFill/>
        </p:spPr>
        <p:txBody>
          <a:bodyPr wrap="square" anchor="t" lIns="0" rIns="0" tIns="0" bIns="0">
            <a:spAutoFit/>
          </a:bodyPr>
          <a:lstStyle/>
          <a:p>
            <a:pPr algn="l">
              <a:spcAft>
                <a:spcPts val="600"/>
              </a:spcAft>
            </a:pPr>
            <a:r>
              <a:rPr sz="1300" b="1" i="0">
                <a:solidFill>
                  <a:srgbClr val="0D9488"/>
                </a:solidFill>
                <a:latin typeface="Calibri"/>
              </a:rPr>
              <a:t>02 · THE APPROACH</a:t>
            </a:r>
          </a:p>
        </p:txBody>
      </p:sp>
      <p:sp>
        <p:nvSpPr>
          <p:cNvPr id="4" name="TextBox 3"/>
          <p:cNvSpPr txBox="1"/>
          <p:nvPr/>
        </p:nvSpPr>
        <p:spPr>
          <a:xfrm>
            <a:off x="640080" y="777240"/>
            <a:ext cx="10972800" cy="822960"/>
          </a:xfrm>
          <a:prstGeom prst="rect">
            <a:avLst/>
          </a:prstGeom>
          <a:noFill/>
        </p:spPr>
        <p:txBody>
          <a:bodyPr wrap="square" anchor="t" lIns="0" rIns="0" tIns="0" bIns="0">
            <a:spAutoFit/>
          </a:bodyPr>
          <a:lstStyle/>
          <a:p>
            <a:pPr algn="l">
              <a:spcAft>
                <a:spcPts val="600"/>
              </a:spcAft>
            </a:pPr>
            <a:r>
              <a:rPr sz="3400" b="1" i="0">
                <a:solidFill>
                  <a:srgbClr val="1E293B"/>
                </a:solidFill>
                <a:latin typeface="Cambria"/>
              </a:rPr>
              <a:t>The solution: RAG - an open-book exam for AI</a:t>
            </a:r>
          </a:p>
        </p:txBody>
      </p:sp>
      <p:sp>
        <p:nvSpPr>
          <p:cNvPr id="5" name="TextBox 4"/>
          <p:cNvSpPr txBox="1"/>
          <p:nvPr/>
        </p:nvSpPr>
        <p:spPr>
          <a:xfrm>
            <a:off x="640080" y="1691640"/>
            <a:ext cx="10972800" cy="548640"/>
          </a:xfrm>
          <a:prstGeom prst="rect">
            <a:avLst/>
          </a:prstGeom>
          <a:noFill/>
        </p:spPr>
        <p:txBody>
          <a:bodyPr wrap="square" anchor="t" lIns="0" rIns="0" tIns="0" bIns="0">
            <a:spAutoFit/>
          </a:bodyPr>
          <a:lstStyle/>
          <a:p>
            <a:pPr algn="l">
              <a:lnSpc>
                <a:spcPct val="115000"/>
              </a:lnSpc>
              <a:spcAft>
                <a:spcPts val="600"/>
              </a:spcAft>
            </a:pPr>
            <a:r>
              <a:rPr sz="1600" b="0" i="0">
                <a:solidFill>
                  <a:srgbClr val="64748B"/>
                </a:solidFill>
                <a:latin typeface="Calibri"/>
              </a:rPr>
              <a:t>Retrieval-Augmented Generation: don't trust the AI to 'know' the answer. First fetch the relevant text from the real document, then let the AI answer using ONLY that text.</a:t>
            </a:r>
          </a:p>
        </p:txBody>
      </p:sp>
      <p:sp>
        <p:nvSpPr>
          <p:cNvPr id="6" name="Rounded Rectangle 5"/>
          <p:cNvSpPr/>
          <p:nvPr/>
        </p:nvSpPr>
        <p:spPr>
          <a:xfrm>
            <a:off x="640080" y="2651760"/>
            <a:ext cx="3200400" cy="182880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0119" y="2971800"/>
            <a:ext cx="548640" cy="54864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19" y="2971800"/>
            <a:ext cx="548640" cy="548640"/>
          </a:xfrm>
          <a:prstGeom prst="rect">
            <a:avLst/>
          </a:prstGeom>
          <a:noFill/>
        </p:spPr>
        <p:txBody>
          <a:bodyPr wrap="square" anchor="ctr" lIns="0" rIns="0" tIns="0" bIns="0">
            <a:spAutoFit/>
          </a:bodyPr>
          <a:lstStyle/>
          <a:p>
            <a:pPr algn="ctr">
              <a:spcAft>
                <a:spcPts val="0"/>
              </a:spcAft>
            </a:pPr>
            <a:r>
              <a:rPr sz="2000" b="1" i="0">
                <a:solidFill>
                  <a:srgbClr val="FFFFFF"/>
                </a:solidFill>
                <a:latin typeface="Cambria"/>
              </a:rPr>
              <a:t>1</a:t>
            </a:r>
          </a:p>
        </p:txBody>
      </p:sp>
      <p:sp>
        <p:nvSpPr>
          <p:cNvPr id="9" name="TextBox 8"/>
          <p:cNvSpPr txBox="1"/>
          <p:nvPr/>
        </p:nvSpPr>
        <p:spPr>
          <a:xfrm>
            <a:off x="1645920" y="2999232"/>
            <a:ext cx="2103120" cy="457200"/>
          </a:xfrm>
          <a:prstGeom prst="rect">
            <a:avLst/>
          </a:prstGeom>
          <a:noFill/>
        </p:spPr>
        <p:txBody>
          <a:bodyPr wrap="square" anchor="t" lIns="0" rIns="0" tIns="0" bIns="0">
            <a:spAutoFit/>
          </a:bodyPr>
          <a:lstStyle/>
          <a:p>
            <a:pPr algn="l">
              <a:spcAft>
                <a:spcPts val="600"/>
              </a:spcAft>
            </a:pPr>
            <a:r>
              <a:rPr sz="1500" b="1" i="0">
                <a:solidFill>
                  <a:srgbClr val="1E293B"/>
                </a:solidFill>
                <a:latin typeface="Calibri"/>
              </a:rPr>
              <a:t>RETRIEVE</a:t>
            </a:r>
          </a:p>
        </p:txBody>
      </p:sp>
      <p:sp>
        <p:nvSpPr>
          <p:cNvPr id="10" name="TextBox 9"/>
          <p:cNvSpPr txBox="1"/>
          <p:nvPr/>
        </p:nvSpPr>
        <p:spPr>
          <a:xfrm>
            <a:off x="960119" y="3657600"/>
            <a:ext cx="2560320" cy="822960"/>
          </a:xfrm>
          <a:prstGeom prst="rect">
            <a:avLst/>
          </a:prstGeom>
          <a:noFill/>
        </p:spPr>
        <p:txBody>
          <a:bodyPr wrap="square" anchor="t" lIns="0" rIns="0" tIns="0" bIns="0">
            <a:spAutoFit/>
          </a:bodyPr>
          <a:lstStyle/>
          <a:p>
            <a:pPr algn="l">
              <a:lnSpc>
                <a:spcPct val="110000"/>
              </a:lnSpc>
              <a:spcAft>
                <a:spcPts val="600"/>
              </a:spcAft>
            </a:pPr>
            <a:r>
              <a:rPr sz="1350" b="0" i="0">
                <a:solidFill>
                  <a:srgbClr val="64748B"/>
                </a:solidFill>
                <a:latin typeface="Calibri"/>
              </a:rPr>
              <a:t>Search the filings and pull the few most relevant passages.</a:t>
            </a:r>
          </a:p>
        </p:txBody>
      </p:sp>
      <p:sp>
        <p:nvSpPr>
          <p:cNvPr id="11" name="Right Arrow 10"/>
          <p:cNvSpPr/>
          <p:nvPr/>
        </p:nvSpPr>
        <p:spPr>
          <a:xfrm>
            <a:off x="3886200" y="3429000"/>
            <a:ext cx="320040" cy="29260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9120" y="2651760"/>
            <a:ext cx="3200400" cy="182880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09159" y="2971800"/>
            <a:ext cx="548640" cy="548640"/>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9159" y="2971800"/>
            <a:ext cx="548640" cy="548640"/>
          </a:xfrm>
          <a:prstGeom prst="rect">
            <a:avLst/>
          </a:prstGeom>
          <a:noFill/>
        </p:spPr>
        <p:txBody>
          <a:bodyPr wrap="square" anchor="ctr" lIns="0" rIns="0" tIns="0" bIns="0">
            <a:spAutoFit/>
          </a:bodyPr>
          <a:lstStyle/>
          <a:p>
            <a:pPr algn="ctr">
              <a:spcAft>
                <a:spcPts val="0"/>
              </a:spcAft>
            </a:pPr>
            <a:r>
              <a:rPr sz="2000" b="1" i="0">
                <a:solidFill>
                  <a:srgbClr val="FFFFFF"/>
                </a:solidFill>
                <a:latin typeface="Cambria"/>
              </a:rPr>
              <a:t>2</a:t>
            </a:r>
          </a:p>
        </p:txBody>
      </p:sp>
      <p:sp>
        <p:nvSpPr>
          <p:cNvPr id="15" name="TextBox 14"/>
          <p:cNvSpPr txBox="1"/>
          <p:nvPr/>
        </p:nvSpPr>
        <p:spPr>
          <a:xfrm>
            <a:off x="5394960" y="2999232"/>
            <a:ext cx="2103120" cy="457200"/>
          </a:xfrm>
          <a:prstGeom prst="rect">
            <a:avLst/>
          </a:prstGeom>
          <a:noFill/>
        </p:spPr>
        <p:txBody>
          <a:bodyPr wrap="square" anchor="t" lIns="0" rIns="0" tIns="0" bIns="0">
            <a:spAutoFit/>
          </a:bodyPr>
          <a:lstStyle/>
          <a:p>
            <a:pPr algn="l">
              <a:spcAft>
                <a:spcPts val="600"/>
              </a:spcAft>
            </a:pPr>
            <a:r>
              <a:rPr sz="1500" b="1" i="0">
                <a:solidFill>
                  <a:srgbClr val="1E293B"/>
                </a:solidFill>
                <a:latin typeface="Calibri"/>
              </a:rPr>
              <a:t>AUGMENT</a:t>
            </a:r>
          </a:p>
        </p:txBody>
      </p:sp>
      <p:sp>
        <p:nvSpPr>
          <p:cNvPr id="16" name="TextBox 15"/>
          <p:cNvSpPr txBox="1"/>
          <p:nvPr/>
        </p:nvSpPr>
        <p:spPr>
          <a:xfrm>
            <a:off x="4709159" y="3657600"/>
            <a:ext cx="2560320" cy="822960"/>
          </a:xfrm>
          <a:prstGeom prst="rect">
            <a:avLst/>
          </a:prstGeom>
          <a:noFill/>
        </p:spPr>
        <p:txBody>
          <a:bodyPr wrap="square" anchor="t" lIns="0" rIns="0" tIns="0" bIns="0">
            <a:spAutoFit/>
          </a:bodyPr>
          <a:lstStyle/>
          <a:p>
            <a:pPr algn="l">
              <a:lnSpc>
                <a:spcPct val="110000"/>
              </a:lnSpc>
              <a:spcAft>
                <a:spcPts val="600"/>
              </a:spcAft>
            </a:pPr>
            <a:r>
              <a:rPr sz="1350" b="0" i="0">
                <a:solidFill>
                  <a:srgbClr val="64748B"/>
                </a:solidFill>
                <a:latin typeface="Calibri"/>
              </a:rPr>
              <a:t>Hand those passages to the AI as its only source of truth.</a:t>
            </a:r>
          </a:p>
        </p:txBody>
      </p:sp>
      <p:sp>
        <p:nvSpPr>
          <p:cNvPr id="17" name="Right Arrow 16"/>
          <p:cNvSpPr/>
          <p:nvPr/>
        </p:nvSpPr>
        <p:spPr>
          <a:xfrm>
            <a:off x="7635240" y="3429000"/>
            <a:ext cx="320040" cy="29260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38159" y="2651760"/>
            <a:ext cx="3200400" cy="182880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458199" y="297180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58199" y="2971800"/>
            <a:ext cx="548640" cy="548640"/>
          </a:xfrm>
          <a:prstGeom prst="rect">
            <a:avLst/>
          </a:prstGeom>
          <a:noFill/>
        </p:spPr>
        <p:txBody>
          <a:bodyPr wrap="square" anchor="ctr" lIns="0" rIns="0" tIns="0" bIns="0">
            <a:spAutoFit/>
          </a:bodyPr>
          <a:lstStyle/>
          <a:p>
            <a:pPr algn="ctr">
              <a:spcAft>
                <a:spcPts val="0"/>
              </a:spcAft>
            </a:pPr>
            <a:r>
              <a:rPr sz="2000" b="1" i="0">
                <a:solidFill>
                  <a:srgbClr val="FFFFFF"/>
                </a:solidFill>
                <a:latin typeface="Cambria"/>
              </a:rPr>
              <a:t>3</a:t>
            </a:r>
          </a:p>
        </p:txBody>
      </p:sp>
      <p:sp>
        <p:nvSpPr>
          <p:cNvPr id="21" name="TextBox 20"/>
          <p:cNvSpPr txBox="1"/>
          <p:nvPr/>
        </p:nvSpPr>
        <p:spPr>
          <a:xfrm>
            <a:off x="9143999" y="2999232"/>
            <a:ext cx="2103120" cy="457200"/>
          </a:xfrm>
          <a:prstGeom prst="rect">
            <a:avLst/>
          </a:prstGeom>
          <a:noFill/>
        </p:spPr>
        <p:txBody>
          <a:bodyPr wrap="square" anchor="t" lIns="0" rIns="0" tIns="0" bIns="0">
            <a:spAutoFit/>
          </a:bodyPr>
          <a:lstStyle/>
          <a:p>
            <a:pPr algn="l">
              <a:spcAft>
                <a:spcPts val="600"/>
              </a:spcAft>
            </a:pPr>
            <a:r>
              <a:rPr sz="1500" b="1" i="0">
                <a:solidFill>
                  <a:srgbClr val="1E293B"/>
                </a:solidFill>
                <a:latin typeface="Calibri"/>
              </a:rPr>
              <a:t>GENERATE</a:t>
            </a:r>
          </a:p>
        </p:txBody>
      </p:sp>
      <p:sp>
        <p:nvSpPr>
          <p:cNvPr id="22" name="TextBox 21"/>
          <p:cNvSpPr txBox="1"/>
          <p:nvPr/>
        </p:nvSpPr>
        <p:spPr>
          <a:xfrm>
            <a:off x="8458199" y="3657600"/>
            <a:ext cx="2560320" cy="822960"/>
          </a:xfrm>
          <a:prstGeom prst="rect">
            <a:avLst/>
          </a:prstGeom>
          <a:noFill/>
        </p:spPr>
        <p:txBody>
          <a:bodyPr wrap="square" anchor="t" lIns="0" rIns="0" tIns="0" bIns="0">
            <a:spAutoFit/>
          </a:bodyPr>
          <a:lstStyle/>
          <a:p>
            <a:pPr algn="l">
              <a:lnSpc>
                <a:spcPct val="110000"/>
              </a:lnSpc>
              <a:spcAft>
                <a:spcPts val="600"/>
              </a:spcAft>
            </a:pPr>
            <a:r>
              <a:rPr sz="1350" b="0" i="0">
                <a:solidFill>
                  <a:srgbClr val="64748B"/>
                </a:solidFill>
                <a:latin typeface="Calibri"/>
              </a:rPr>
              <a:t>The AI writes an answer from them - and cites its sources.</a:t>
            </a:r>
          </a:p>
        </p:txBody>
      </p:sp>
      <p:sp>
        <p:nvSpPr>
          <p:cNvPr id="23" name="TextBox 22"/>
          <p:cNvSpPr txBox="1"/>
          <p:nvPr/>
        </p:nvSpPr>
        <p:spPr>
          <a:xfrm>
            <a:off x="640080" y="4892040"/>
            <a:ext cx="10972800" cy="640080"/>
          </a:xfrm>
          <a:prstGeom prst="rect">
            <a:avLst/>
          </a:prstGeom>
          <a:noFill/>
        </p:spPr>
        <p:txBody>
          <a:bodyPr wrap="square" anchor="t" lIns="0" rIns="0" tIns="0" bIns="0">
            <a:spAutoFit/>
          </a:bodyPr>
          <a:lstStyle/>
          <a:p>
            <a:pPr algn="l">
              <a:spcAft>
                <a:spcPts val="600"/>
              </a:spcAft>
            </a:pPr>
            <a:r>
              <a:rPr sz="1500" b="1" i="0">
                <a:solidFill>
                  <a:srgbClr val="0D9488"/>
                </a:solidFill>
                <a:latin typeface="Calibri"/>
              </a:rPr>
              <a:t>Why it's powerful:  </a:t>
            </a:r>
            <a:r>
              <a:rPr sz="1500" b="0" i="0">
                <a:solidFill>
                  <a:srgbClr val="1E293B"/>
                </a:solidFill>
                <a:latin typeface="Calibri"/>
              </a:rPr>
              <a:t>no hallucination, every answer is cited, and it works on documents the AI was never trained 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658368" y="566928"/>
            <a:ext cx="109728" cy="1097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058400" cy="365760"/>
          </a:xfrm>
          <a:prstGeom prst="rect">
            <a:avLst/>
          </a:prstGeom>
          <a:noFill/>
        </p:spPr>
        <p:txBody>
          <a:bodyPr wrap="square" anchor="t" lIns="0" rIns="0" tIns="0" bIns="0">
            <a:spAutoFit/>
          </a:bodyPr>
          <a:lstStyle/>
          <a:p>
            <a:pPr algn="l">
              <a:spcAft>
                <a:spcPts val="600"/>
              </a:spcAft>
            </a:pPr>
            <a:r>
              <a:rPr sz="1300" b="1" i="0">
                <a:solidFill>
                  <a:srgbClr val="0D9488"/>
                </a:solidFill>
                <a:latin typeface="Calibri"/>
              </a:rPr>
              <a:t>03 · IN ACTION</a:t>
            </a:r>
          </a:p>
        </p:txBody>
      </p:sp>
      <p:sp>
        <p:nvSpPr>
          <p:cNvPr id="4" name="TextBox 3"/>
          <p:cNvSpPr txBox="1"/>
          <p:nvPr/>
        </p:nvSpPr>
        <p:spPr>
          <a:xfrm>
            <a:off x="640080" y="777240"/>
            <a:ext cx="10972800" cy="822960"/>
          </a:xfrm>
          <a:prstGeom prst="rect">
            <a:avLst/>
          </a:prstGeom>
          <a:noFill/>
        </p:spPr>
        <p:txBody>
          <a:bodyPr wrap="square" anchor="t" lIns="0" rIns="0" tIns="0" bIns="0">
            <a:spAutoFit/>
          </a:bodyPr>
          <a:lstStyle/>
          <a:p>
            <a:pPr algn="l">
              <a:spcAft>
                <a:spcPts val="600"/>
              </a:spcAft>
            </a:pPr>
            <a:r>
              <a:rPr sz="3400" b="1" i="0">
                <a:solidFill>
                  <a:srgbClr val="1E293B"/>
                </a:solidFill>
                <a:latin typeface="Cambria"/>
              </a:rPr>
              <a:t>What using FinChat looks like</a:t>
            </a:r>
          </a:p>
        </p:txBody>
      </p:sp>
      <p:sp>
        <p:nvSpPr>
          <p:cNvPr id="5" name="Rounded Rectangle 4"/>
          <p:cNvSpPr/>
          <p:nvPr/>
        </p:nvSpPr>
        <p:spPr>
          <a:xfrm>
            <a:off x="5760720" y="1783080"/>
            <a:ext cx="5760720" cy="685800"/>
          </a:xfrm>
          <a:prstGeom prst="roundRect">
            <a:avLst>
              <a:gd name="adj" fmla="val 12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80759" y="1984248"/>
            <a:ext cx="5120640" cy="283464"/>
          </a:xfrm>
          <a:prstGeom prst="rect">
            <a:avLst/>
          </a:prstGeom>
          <a:noFill/>
        </p:spPr>
        <p:txBody>
          <a:bodyPr wrap="square" anchor="ctr" lIns="0" rIns="0" tIns="0" bIns="0">
            <a:spAutoFit/>
          </a:bodyPr>
          <a:lstStyle/>
          <a:p>
            <a:pPr algn="l">
              <a:spcAft>
                <a:spcPts val="0"/>
              </a:spcAft>
            </a:pPr>
            <a:r>
              <a:rPr sz="1500" b="1" i="0">
                <a:solidFill>
                  <a:srgbClr val="FFFFFF"/>
                </a:solidFill>
                <a:latin typeface="Calibri"/>
              </a:rPr>
              <a:t>What are Boeing's business segments?</a:t>
            </a:r>
          </a:p>
        </p:txBody>
      </p:sp>
      <p:sp>
        <p:nvSpPr>
          <p:cNvPr id="7" name="Rounded Rectangle 6"/>
          <p:cNvSpPr/>
          <p:nvPr/>
        </p:nvSpPr>
        <p:spPr>
          <a:xfrm>
            <a:off x="640080" y="2606040"/>
            <a:ext cx="8595360" cy="1097280"/>
          </a:xfrm>
          <a:prstGeom prst="roundRect">
            <a:avLst>
              <a:gd name="adj" fmla="val 12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19" y="2807208"/>
            <a:ext cx="7955280" cy="694944"/>
          </a:xfrm>
          <a:prstGeom prst="rect">
            <a:avLst/>
          </a:prstGeom>
          <a:noFill/>
        </p:spPr>
        <p:txBody>
          <a:bodyPr wrap="square" anchor="ctr" lIns="0" rIns="0" tIns="0" bIns="0">
            <a:spAutoFit/>
          </a:bodyPr>
          <a:lstStyle/>
          <a:p>
            <a:pPr algn="l">
              <a:spcAft>
                <a:spcPts val="0"/>
              </a:spcAft>
            </a:pPr>
            <a:r>
              <a:rPr sz="1450" b="0" i="0">
                <a:solidFill>
                  <a:srgbClr val="1E293B"/>
                </a:solidFill>
                <a:latin typeface="Calibri"/>
              </a:rPr>
              <a:t>Boeing operates through four segments: Commercial Airplanes; Defense, Space &amp; Security; Global Services; and Boeing Capital.  </a:t>
            </a:r>
            <a:r>
              <a:rPr sz="1200" b="0" i="1">
                <a:solidFill>
                  <a:srgbClr val="0D9488"/>
                </a:solidFill>
                <a:latin typeface="Calibri"/>
              </a:rPr>
              <a:t>Sources: Boeing 10-K (FY2022)</a:t>
            </a:r>
          </a:p>
        </p:txBody>
      </p:sp>
      <p:sp>
        <p:nvSpPr>
          <p:cNvPr id="9" name="Rounded Rectangle 8"/>
          <p:cNvSpPr/>
          <p:nvPr/>
        </p:nvSpPr>
        <p:spPr>
          <a:xfrm>
            <a:off x="6949440" y="3977639"/>
            <a:ext cx="4572000" cy="685800"/>
          </a:xfrm>
          <a:prstGeom prst="roundRect">
            <a:avLst>
              <a:gd name="adj" fmla="val 12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69479" y="4178807"/>
            <a:ext cx="3931920" cy="283464"/>
          </a:xfrm>
          <a:prstGeom prst="rect">
            <a:avLst/>
          </a:prstGeom>
          <a:noFill/>
        </p:spPr>
        <p:txBody>
          <a:bodyPr wrap="square" anchor="ctr" lIns="0" rIns="0" tIns="0" bIns="0">
            <a:spAutoFit/>
          </a:bodyPr>
          <a:lstStyle/>
          <a:p>
            <a:pPr algn="l">
              <a:spcAft>
                <a:spcPts val="0"/>
              </a:spcAft>
            </a:pPr>
            <a:r>
              <a:rPr sz="1500" b="1" i="0">
                <a:solidFill>
                  <a:srgbClr val="FFFFFF"/>
                </a:solidFill>
                <a:latin typeface="Calibri"/>
              </a:rPr>
              <a:t>What is Apple's quick ratio?</a:t>
            </a:r>
          </a:p>
        </p:txBody>
      </p:sp>
      <p:sp>
        <p:nvSpPr>
          <p:cNvPr id="11" name="Rounded Rectangle 10"/>
          <p:cNvSpPr/>
          <p:nvPr/>
        </p:nvSpPr>
        <p:spPr>
          <a:xfrm>
            <a:off x="640080" y="4800600"/>
            <a:ext cx="8595360" cy="1097280"/>
          </a:xfrm>
          <a:prstGeom prst="roundRect">
            <a:avLst>
              <a:gd name="adj" fmla="val 12000"/>
            </a:avLst>
          </a:prstGeom>
          <a:solidFill>
            <a:srgbClr val="E7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5001768"/>
            <a:ext cx="7955280" cy="694944"/>
          </a:xfrm>
          <a:prstGeom prst="rect">
            <a:avLst/>
          </a:prstGeom>
          <a:noFill/>
        </p:spPr>
        <p:txBody>
          <a:bodyPr wrap="square" anchor="ctr" lIns="0" rIns="0" tIns="0" bIns="0">
            <a:spAutoFit/>
          </a:bodyPr>
          <a:lstStyle/>
          <a:p>
            <a:pPr algn="l">
              <a:spcAft>
                <a:spcPts val="0"/>
              </a:spcAft>
            </a:pPr>
            <a:r>
              <a:rPr sz="1450" b="0" i="0">
                <a:solidFill>
                  <a:srgbClr val="1E293B"/>
                </a:solidFill>
                <a:latin typeface="Calibri"/>
              </a:rPr>
              <a:t>Apple's quick ratio in FY2023 was 0.94, and its operating margin was 29.8%.  </a:t>
            </a:r>
            <a:r>
              <a:rPr sz="1200" b="0" i="1">
                <a:solidFill>
                  <a:srgbClr val="0D9488"/>
                </a:solidFill>
                <a:latin typeface="Calibri"/>
              </a:rPr>
              <a:t>Sources: Apple 10-K (FY2023) - Key Ratios (XBRL)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658368" y="566928"/>
            <a:ext cx="109728" cy="1097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058400" cy="365760"/>
          </a:xfrm>
          <a:prstGeom prst="rect">
            <a:avLst/>
          </a:prstGeom>
          <a:noFill/>
        </p:spPr>
        <p:txBody>
          <a:bodyPr wrap="square" anchor="t" lIns="0" rIns="0" tIns="0" bIns="0">
            <a:spAutoFit/>
          </a:bodyPr>
          <a:lstStyle/>
          <a:p>
            <a:pPr algn="l">
              <a:spcAft>
                <a:spcPts val="600"/>
              </a:spcAft>
            </a:pPr>
            <a:r>
              <a:rPr sz="1300" b="1" i="0">
                <a:solidFill>
                  <a:srgbClr val="0D9488"/>
                </a:solidFill>
                <a:latin typeface="Calibri"/>
              </a:rPr>
              <a:t>04 · THE DATA</a:t>
            </a:r>
          </a:p>
        </p:txBody>
      </p:sp>
      <p:sp>
        <p:nvSpPr>
          <p:cNvPr id="4" name="TextBox 3"/>
          <p:cNvSpPr txBox="1"/>
          <p:nvPr/>
        </p:nvSpPr>
        <p:spPr>
          <a:xfrm>
            <a:off x="640080" y="777240"/>
            <a:ext cx="10972800" cy="822960"/>
          </a:xfrm>
          <a:prstGeom prst="rect">
            <a:avLst/>
          </a:prstGeom>
          <a:noFill/>
        </p:spPr>
        <p:txBody>
          <a:bodyPr wrap="square" anchor="t" lIns="0" rIns="0" tIns="0" bIns="0">
            <a:spAutoFit/>
          </a:bodyPr>
          <a:lstStyle/>
          <a:p>
            <a:pPr algn="l">
              <a:spcAft>
                <a:spcPts val="600"/>
              </a:spcAft>
            </a:pPr>
            <a:r>
              <a:rPr sz="3400" b="1" i="0">
                <a:solidFill>
                  <a:srgbClr val="1E293B"/>
                </a:solidFill>
                <a:latin typeface="Cambria"/>
              </a:rPr>
              <a:t>25 recognizable companies, straight from the SEC</a:t>
            </a:r>
          </a:p>
        </p:txBody>
      </p:sp>
      <p:sp>
        <p:nvSpPr>
          <p:cNvPr id="5" name="Rounded Rectangle 4"/>
          <p:cNvSpPr/>
          <p:nvPr/>
        </p:nvSpPr>
        <p:spPr>
          <a:xfrm>
            <a:off x="640080" y="1874519"/>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Apple</a:t>
            </a:r>
          </a:p>
        </p:txBody>
      </p:sp>
      <p:sp>
        <p:nvSpPr>
          <p:cNvPr id="7" name="Rounded Rectangle 6"/>
          <p:cNvSpPr/>
          <p:nvPr/>
        </p:nvSpPr>
        <p:spPr>
          <a:xfrm>
            <a:off x="2852928" y="1874519"/>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52928" y="1874519"/>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Microsoft</a:t>
            </a:r>
          </a:p>
        </p:txBody>
      </p:sp>
      <p:sp>
        <p:nvSpPr>
          <p:cNvPr id="9" name="Rounded Rectangle 8"/>
          <p:cNvSpPr/>
          <p:nvPr/>
        </p:nvSpPr>
        <p:spPr>
          <a:xfrm>
            <a:off x="5065776" y="1874519"/>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65776" y="1874519"/>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Alphabet</a:t>
            </a:r>
          </a:p>
        </p:txBody>
      </p:sp>
      <p:sp>
        <p:nvSpPr>
          <p:cNvPr id="11" name="Rounded Rectangle 10"/>
          <p:cNvSpPr/>
          <p:nvPr/>
        </p:nvSpPr>
        <p:spPr>
          <a:xfrm>
            <a:off x="7278624" y="1874519"/>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78624" y="1874519"/>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Amazon</a:t>
            </a:r>
          </a:p>
        </p:txBody>
      </p:sp>
      <p:sp>
        <p:nvSpPr>
          <p:cNvPr id="13" name="Rounded Rectangle 12"/>
          <p:cNvSpPr/>
          <p:nvPr/>
        </p:nvSpPr>
        <p:spPr>
          <a:xfrm>
            <a:off x="9491472" y="1874519"/>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91472" y="1874519"/>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NVIDIA</a:t>
            </a:r>
          </a:p>
        </p:txBody>
      </p:sp>
      <p:sp>
        <p:nvSpPr>
          <p:cNvPr id="15" name="Rounded Rectangle 14"/>
          <p:cNvSpPr/>
          <p:nvPr/>
        </p:nvSpPr>
        <p:spPr>
          <a:xfrm>
            <a:off x="640080" y="2569463"/>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569463"/>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Tesla</a:t>
            </a:r>
          </a:p>
        </p:txBody>
      </p:sp>
      <p:sp>
        <p:nvSpPr>
          <p:cNvPr id="17" name="Rounded Rectangle 16"/>
          <p:cNvSpPr/>
          <p:nvPr/>
        </p:nvSpPr>
        <p:spPr>
          <a:xfrm>
            <a:off x="2852928" y="2569463"/>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52928" y="2569463"/>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JPMorgan</a:t>
            </a:r>
          </a:p>
        </p:txBody>
      </p:sp>
      <p:sp>
        <p:nvSpPr>
          <p:cNvPr id="19" name="Rounded Rectangle 18"/>
          <p:cNvSpPr/>
          <p:nvPr/>
        </p:nvSpPr>
        <p:spPr>
          <a:xfrm>
            <a:off x="5065776" y="2569463"/>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65776" y="2569463"/>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Boeing</a:t>
            </a:r>
          </a:p>
        </p:txBody>
      </p:sp>
      <p:sp>
        <p:nvSpPr>
          <p:cNvPr id="21" name="Rounded Rectangle 20"/>
          <p:cNvSpPr/>
          <p:nvPr/>
        </p:nvSpPr>
        <p:spPr>
          <a:xfrm>
            <a:off x="7278624" y="2569463"/>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78624" y="2569463"/>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Walmart</a:t>
            </a:r>
          </a:p>
        </p:txBody>
      </p:sp>
      <p:sp>
        <p:nvSpPr>
          <p:cNvPr id="23" name="Rounded Rectangle 22"/>
          <p:cNvSpPr/>
          <p:nvPr/>
        </p:nvSpPr>
        <p:spPr>
          <a:xfrm>
            <a:off x="9491472" y="2569463"/>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91472" y="2569463"/>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PepsiCo</a:t>
            </a:r>
          </a:p>
        </p:txBody>
      </p:sp>
      <p:sp>
        <p:nvSpPr>
          <p:cNvPr id="25" name="Rounded Rectangle 24"/>
          <p:cNvSpPr/>
          <p:nvPr/>
        </p:nvSpPr>
        <p:spPr>
          <a:xfrm>
            <a:off x="640080" y="3264408"/>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264408"/>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Coca-Cola</a:t>
            </a:r>
          </a:p>
        </p:txBody>
      </p:sp>
      <p:sp>
        <p:nvSpPr>
          <p:cNvPr id="27" name="Rounded Rectangle 26"/>
          <p:cNvSpPr/>
          <p:nvPr/>
        </p:nvSpPr>
        <p:spPr>
          <a:xfrm>
            <a:off x="2852928" y="3264408"/>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52928" y="3264408"/>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J&amp;J</a:t>
            </a:r>
          </a:p>
        </p:txBody>
      </p:sp>
      <p:sp>
        <p:nvSpPr>
          <p:cNvPr id="29" name="Rounded Rectangle 28"/>
          <p:cNvSpPr/>
          <p:nvPr/>
        </p:nvSpPr>
        <p:spPr>
          <a:xfrm>
            <a:off x="5065776" y="3264408"/>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65776" y="3264408"/>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Pfizer</a:t>
            </a:r>
          </a:p>
        </p:txBody>
      </p:sp>
      <p:sp>
        <p:nvSpPr>
          <p:cNvPr id="31" name="Rounded Rectangle 30"/>
          <p:cNvSpPr/>
          <p:nvPr/>
        </p:nvSpPr>
        <p:spPr>
          <a:xfrm>
            <a:off x="7278624" y="3264408"/>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78624" y="3264408"/>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CVS Health</a:t>
            </a:r>
          </a:p>
        </p:txBody>
      </p:sp>
      <p:sp>
        <p:nvSpPr>
          <p:cNvPr id="33" name="Rounded Rectangle 32"/>
          <p:cNvSpPr/>
          <p:nvPr/>
        </p:nvSpPr>
        <p:spPr>
          <a:xfrm>
            <a:off x="9491472" y="3264408"/>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91472" y="3264408"/>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Verizon</a:t>
            </a:r>
          </a:p>
        </p:txBody>
      </p:sp>
      <p:sp>
        <p:nvSpPr>
          <p:cNvPr id="35" name="Rounded Rectangle 34"/>
          <p:cNvSpPr/>
          <p:nvPr/>
        </p:nvSpPr>
        <p:spPr>
          <a:xfrm>
            <a:off x="640080" y="3959352"/>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3959352"/>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Nike</a:t>
            </a:r>
          </a:p>
        </p:txBody>
      </p:sp>
      <p:sp>
        <p:nvSpPr>
          <p:cNvPr id="37" name="Rounded Rectangle 36"/>
          <p:cNvSpPr/>
          <p:nvPr/>
        </p:nvSpPr>
        <p:spPr>
          <a:xfrm>
            <a:off x="2852928" y="3959352"/>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52928" y="3959352"/>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Adobe</a:t>
            </a:r>
          </a:p>
        </p:txBody>
      </p:sp>
      <p:sp>
        <p:nvSpPr>
          <p:cNvPr id="39" name="Rounded Rectangle 38"/>
          <p:cNvSpPr/>
          <p:nvPr/>
        </p:nvSpPr>
        <p:spPr>
          <a:xfrm>
            <a:off x="5065776" y="3959352"/>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65776" y="3959352"/>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AMD</a:t>
            </a:r>
          </a:p>
        </p:txBody>
      </p:sp>
      <p:sp>
        <p:nvSpPr>
          <p:cNvPr id="41" name="Rounded Rectangle 40"/>
          <p:cNvSpPr/>
          <p:nvPr/>
        </p:nvSpPr>
        <p:spPr>
          <a:xfrm>
            <a:off x="7278624" y="3959352"/>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278624" y="3959352"/>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3M</a:t>
            </a:r>
          </a:p>
        </p:txBody>
      </p:sp>
      <p:sp>
        <p:nvSpPr>
          <p:cNvPr id="43" name="Rounded Rectangle 42"/>
          <p:cNvSpPr/>
          <p:nvPr/>
        </p:nvSpPr>
        <p:spPr>
          <a:xfrm>
            <a:off x="9491472" y="3959352"/>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91472" y="3959352"/>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Amex</a:t>
            </a:r>
          </a:p>
        </p:txBody>
      </p:sp>
      <p:sp>
        <p:nvSpPr>
          <p:cNvPr id="45" name="Rounded Rectangle 44"/>
          <p:cNvSpPr/>
          <p:nvPr/>
        </p:nvSpPr>
        <p:spPr>
          <a:xfrm>
            <a:off x="640080" y="4654296"/>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4654296"/>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Best Buy</a:t>
            </a:r>
          </a:p>
        </p:txBody>
      </p:sp>
      <p:sp>
        <p:nvSpPr>
          <p:cNvPr id="47" name="Rounded Rectangle 46"/>
          <p:cNvSpPr/>
          <p:nvPr/>
        </p:nvSpPr>
        <p:spPr>
          <a:xfrm>
            <a:off x="2852928" y="4654296"/>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852928" y="4654296"/>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Ulta</a:t>
            </a:r>
          </a:p>
        </p:txBody>
      </p:sp>
      <p:sp>
        <p:nvSpPr>
          <p:cNvPr id="49" name="Rounded Rectangle 48"/>
          <p:cNvSpPr/>
          <p:nvPr/>
        </p:nvSpPr>
        <p:spPr>
          <a:xfrm>
            <a:off x="5065776" y="4654296"/>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65776" y="4654296"/>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Corning</a:t>
            </a:r>
          </a:p>
        </p:txBody>
      </p:sp>
      <p:sp>
        <p:nvSpPr>
          <p:cNvPr id="51" name="Rounded Rectangle 50"/>
          <p:cNvSpPr/>
          <p:nvPr/>
        </p:nvSpPr>
        <p:spPr>
          <a:xfrm>
            <a:off x="7278624" y="4654296"/>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78624" y="4654296"/>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AES</a:t>
            </a:r>
          </a:p>
        </p:txBody>
      </p:sp>
      <p:sp>
        <p:nvSpPr>
          <p:cNvPr id="53" name="Rounded Rectangle 52"/>
          <p:cNvSpPr/>
          <p:nvPr/>
        </p:nvSpPr>
        <p:spPr>
          <a:xfrm>
            <a:off x="9491472" y="4654296"/>
            <a:ext cx="2157984" cy="566928"/>
          </a:xfrm>
          <a:prstGeom prst="roundRect">
            <a:avLst>
              <a:gd name="adj" fmla="val 1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491472" y="4654296"/>
            <a:ext cx="2157984" cy="566928"/>
          </a:xfrm>
          <a:prstGeom prst="rect">
            <a:avLst/>
          </a:prstGeom>
          <a:noFill/>
        </p:spPr>
        <p:txBody>
          <a:bodyPr wrap="square" anchor="ctr" lIns="0" rIns="0" tIns="0" bIns="0">
            <a:spAutoFit/>
          </a:bodyPr>
          <a:lstStyle/>
          <a:p>
            <a:pPr algn="ctr">
              <a:spcAft>
                <a:spcPts val="0"/>
              </a:spcAft>
            </a:pPr>
            <a:r>
              <a:rPr sz="1350" b="1" i="0">
                <a:solidFill>
                  <a:srgbClr val="1E293B"/>
                </a:solidFill>
                <a:latin typeface="Calibri"/>
              </a:rPr>
              <a:t>Amcor</a:t>
            </a:r>
          </a:p>
        </p:txBody>
      </p:sp>
      <p:sp>
        <p:nvSpPr>
          <p:cNvPr id="55" name="TextBox 54"/>
          <p:cNvSpPr txBox="1"/>
          <p:nvPr/>
        </p:nvSpPr>
        <p:spPr>
          <a:xfrm>
            <a:off x="640080" y="6263640"/>
            <a:ext cx="10972800" cy="365760"/>
          </a:xfrm>
          <a:prstGeom prst="rect">
            <a:avLst/>
          </a:prstGeom>
          <a:noFill/>
        </p:spPr>
        <p:txBody>
          <a:bodyPr wrap="square" anchor="t" lIns="0" rIns="0" tIns="0" bIns="0">
            <a:spAutoFit/>
          </a:bodyPr>
          <a:lstStyle/>
          <a:p>
            <a:pPr algn="l">
              <a:spcAft>
                <a:spcPts val="600"/>
              </a:spcAft>
            </a:pPr>
            <a:r>
              <a:rPr sz="1350" b="1" i="0">
                <a:solidFill>
                  <a:srgbClr val="0D9488"/>
                </a:solidFill>
                <a:latin typeface="Calibri"/>
              </a:rPr>
              <a:t>Source:  </a:t>
            </a:r>
            <a:r>
              <a:rPr sz="1350" b="0" i="0">
                <a:solidFill>
                  <a:srgbClr val="64748B"/>
                </a:solidFill>
                <a:latin typeface="Calibri"/>
              </a:rPr>
              <a:t>recent 10-K filings pulled live from the SEC EDGAR database (FY2021-2024), chosen to overlap the FinanceBench benchmark.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658368" y="566928"/>
            <a:ext cx="109728" cy="1097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058400" cy="365760"/>
          </a:xfrm>
          <a:prstGeom prst="rect">
            <a:avLst/>
          </a:prstGeom>
          <a:noFill/>
        </p:spPr>
        <p:txBody>
          <a:bodyPr wrap="square" anchor="t" lIns="0" rIns="0" tIns="0" bIns="0">
            <a:spAutoFit/>
          </a:bodyPr>
          <a:lstStyle/>
          <a:p>
            <a:pPr algn="l">
              <a:spcAft>
                <a:spcPts val="600"/>
              </a:spcAft>
            </a:pPr>
            <a:r>
              <a:rPr sz="1300" b="1" i="0">
                <a:solidFill>
                  <a:srgbClr val="0D9488"/>
                </a:solidFill>
                <a:latin typeface="Calibri"/>
              </a:rPr>
              <a:t>05 · ARCHITECTURE</a:t>
            </a:r>
          </a:p>
        </p:txBody>
      </p:sp>
      <p:sp>
        <p:nvSpPr>
          <p:cNvPr id="4" name="TextBox 3"/>
          <p:cNvSpPr txBox="1"/>
          <p:nvPr/>
        </p:nvSpPr>
        <p:spPr>
          <a:xfrm>
            <a:off x="640080" y="777240"/>
            <a:ext cx="10972800" cy="822960"/>
          </a:xfrm>
          <a:prstGeom prst="rect">
            <a:avLst/>
          </a:prstGeom>
          <a:noFill/>
        </p:spPr>
        <p:txBody>
          <a:bodyPr wrap="square" anchor="t" lIns="0" rIns="0" tIns="0" bIns="0">
            <a:spAutoFit/>
          </a:bodyPr>
          <a:lstStyle/>
          <a:p>
            <a:pPr algn="l">
              <a:spcAft>
                <a:spcPts val="600"/>
              </a:spcAft>
            </a:pPr>
            <a:r>
              <a:rPr sz="3400" b="1" i="0">
                <a:solidFill>
                  <a:srgbClr val="1E293B"/>
                </a:solidFill>
                <a:latin typeface="Cambria"/>
              </a:rPr>
              <a:t>How it works: two pipelines</a:t>
            </a:r>
          </a:p>
        </p:txBody>
      </p:sp>
      <p:sp>
        <p:nvSpPr>
          <p:cNvPr id="5" name="TextBox 4"/>
          <p:cNvSpPr txBox="1"/>
          <p:nvPr/>
        </p:nvSpPr>
        <p:spPr>
          <a:xfrm>
            <a:off x="640080" y="1783080"/>
            <a:ext cx="10972800" cy="320040"/>
          </a:xfrm>
          <a:prstGeom prst="rect">
            <a:avLst/>
          </a:prstGeom>
          <a:noFill/>
        </p:spPr>
        <p:txBody>
          <a:bodyPr wrap="square" anchor="t" lIns="0" rIns="0" tIns="0" bIns="0">
            <a:spAutoFit/>
          </a:bodyPr>
          <a:lstStyle/>
          <a:p>
            <a:pPr algn="l">
              <a:spcAft>
                <a:spcPts val="600"/>
              </a:spcAft>
            </a:pPr>
            <a:r>
              <a:rPr sz="1300" b="1" i="0">
                <a:solidFill>
                  <a:srgbClr val="0D9488"/>
                </a:solidFill>
                <a:latin typeface="Calibri"/>
              </a:rPr>
              <a:t>BUILD ONCE  -  turn the filings into a searchable index</a:t>
            </a:r>
          </a:p>
        </p:txBody>
      </p:sp>
      <p:sp>
        <p:nvSpPr>
          <p:cNvPr id="6" name="Rounded Rectangle 5"/>
          <p:cNvSpPr/>
          <p:nvPr/>
        </p:nvSpPr>
        <p:spPr>
          <a:xfrm>
            <a:off x="640080" y="2194560"/>
            <a:ext cx="2286000" cy="91440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194560"/>
            <a:ext cx="1920240" cy="914400"/>
          </a:xfrm>
          <a:prstGeom prst="rect">
            <a:avLst/>
          </a:prstGeom>
          <a:noFill/>
        </p:spPr>
        <p:txBody>
          <a:bodyPr wrap="square" anchor="ctr" lIns="0" rIns="0" tIns="0" bIns="0">
            <a:spAutoFit/>
          </a:bodyPr>
          <a:lstStyle/>
          <a:p>
            <a:pPr algn="ctr">
              <a:spcAft>
                <a:spcPts val="200"/>
              </a:spcAft>
            </a:pPr>
            <a:r>
              <a:rPr sz="1400" b="1" i="0">
                <a:solidFill>
                  <a:srgbClr val="1E293B"/>
                </a:solidFill>
                <a:latin typeface="Calibri"/>
              </a:rPr>
              <a:t>SEC EDGAR</a:t>
            </a:r>
          </a:p>
          <a:p>
            <a:pPr algn="ctr">
              <a:spcAft>
                <a:spcPts val="0"/>
              </a:spcAft>
            </a:pPr>
            <a:r>
              <a:rPr sz="1100" b="0" i="0">
                <a:solidFill>
                  <a:srgbClr val="64748B"/>
                </a:solidFill>
                <a:latin typeface="Calibri"/>
              </a:rPr>
              <a:t>fetch each 10-K</a:t>
            </a:r>
          </a:p>
        </p:txBody>
      </p:sp>
      <p:sp>
        <p:nvSpPr>
          <p:cNvPr id="8" name="Rounded Rectangle 7"/>
          <p:cNvSpPr/>
          <p:nvPr/>
        </p:nvSpPr>
        <p:spPr>
          <a:xfrm>
            <a:off x="3429000" y="2194560"/>
            <a:ext cx="2468880" cy="914400"/>
          </a:xfrm>
          <a:prstGeom prst="roundRect">
            <a:avLst>
              <a:gd name="adj" fmla="val 8000"/>
            </a:avLst>
          </a:prstGeom>
          <a:solidFill>
            <a:srgbClr val="E6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80" y="2194560"/>
            <a:ext cx="2103120" cy="914400"/>
          </a:xfrm>
          <a:prstGeom prst="rect">
            <a:avLst/>
          </a:prstGeom>
          <a:noFill/>
        </p:spPr>
        <p:txBody>
          <a:bodyPr wrap="square" anchor="ctr" lIns="0" rIns="0" tIns="0" bIns="0">
            <a:spAutoFit/>
          </a:bodyPr>
          <a:lstStyle/>
          <a:p>
            <a:pPr algn="ctr">
              <a:spcAft>
                <a:spcPts val="200"/>
              </a:spcAft>
            </a:pPr>
            <a:r>
              <a:rPr sz="1400" b="1" i="0">
                <a:solidFill>
                  <a:srgbClr val="1E293B"/>
                </a:solidFill>
                <a:latin typeface="Calibri"/>
              </a:rPr>
              <a:t>Text + XBRL numbers</a:t>
            </a:r>
          </a:p>
          <a:p>
            <a:pPr algn="ctr">
              <a:spcAft>
                <a:spcPts val="0"/>
              </a:spcAft>
            </a:pPr>
            <a:r>
              <a:rPr sz="1100" b="0" i="0">
                <a:solidFill>
                  <a:srgbClr val="64748B"/>
                </a:solidFill>
                <a:latin typeface="Calibri"/>
              </a:rPr>
              <a:t>split &amp; structure</a:t>
            </a:r>
          </a:p>
        </p:txBody>
      </p:sp>
      <p:sp>
        <p:nvSpPr>
          <p:cNvPr id="10" name="Rounded Rectangle 9"/>
          <p:cNvSpPr/>
          <p:nvPr/>
        </p:nvSpPr>
        <p:spPr>
          <a:xfrm>
            <a:off x="6400800" y="2194560"/>
            <a:ext cx="2286000" cy="91440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2194560"/>
            <a:ext cx="1920240" cy="914400"/>
          </a:xfrm>
          <a:prstGeom prst="rect">
            <a:avLst/>
          </a:prstGeom>
          <a:noFill/>
        </p:spPr>
        <p:txBody>
          <a:bodyPr wrap="square" anchor="ctr" lIns="0" rIns="0" tIns="0" bIns="0">
            <a:spAutoFit/>
          </a:bodyPr>
          <a:lstStyle/>
          <a:p>
            <a:pPr algn="ctr">
              <a:spcAft>
                <a:spcPts val="200"/>
              </a:spcAft>
            </a:pPr>
            <a:r>
              <a:rPr sz="1400" b="1" i="0">
                <a:solidFill>
                  <a:srgbClr val="1E293B"/>
                </a:solidFill>
                <a:latin typeface="Calibri"/>
              </a:rPr>
              <a:t>Embeddings</a:t>
            </a:r>
          </a:p>
          <a:p>
            <a:pPr algn="ctr">
              <a:spcAft>
                <a:spcPts val="0"/>
              </a:spcAft>
            </a:pPr>
            <a:r>
              <a:rPr sz="1100" b="0" i="0">
                <a:solidFill>
                  <a:srgbClr val="64748B"/>
                </a:solidFill>
                <a:latin typeface="Calibri"/>
              </a:rPr>
              <a:t>text → vectors</a:t>
            </a:r>
          </a:p>
        </p:txBody>
      </p:sp>
      <p:sp>
        <p:nvSpPr>
          <p:cNvPr id="12" name="Rounded Rectangle 11"/>
          <p:cNvSpPr/>
          <p:nvPr/>
        </p:nvSpPr>
        <p:spPr>
          <a:xfrm>
            <a:off x="9189720" y="2194560"/>
            <a:ext cx="2331720" cy="914400"/>
          </a:xfrm>
          <a:prstGeom prst="roundRect">
            <a:avLst>
              <a:gd name="adj" fmla="val 8000"/>
            </a:avLst>
          </a:prstGeom>
          <a:solidFill>
            <a:srgbClr val="E6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72600" y="2194560"/>
            <a:ext cx="1965960" cy="914400"/>
          </a:xfrm>
          <a:prstGeom prst="rect">
            <a:avLst/>
          </a:prstGeom>
          <a:noFill/>
        </p:spPr>
        <p:txBody>
          <a:bodyPr wrap="square" anchor="ctr" lIns="0" rIns="0" tIns="0" bIns="0">
            <a:spAutoFit/>
          </a:bodyPr>
          <a:lstStyle/>
          <a:p>
            <a:pPr algn="ctr">
              <a:spcAft>
                <a:spcPts val="200"/>
              </a:spcAft>
            </a:pPr>
            <a:r>
              <a:rPr sz="1400" b="1" i="0">
                <a:solidFill>
                  <a:srgbClr val="1E293B"/>
                </a:solidFill>
                <a:latin typeface="Calibri"/>
              </a:rPr>
              <a:t>ChromaDB index</a:t>
            </a:r>
          </a:p>
          <a:p>
            <a:pPr algn="ctr">
              <a:spcAft>
                <a:spcPts val="0"/>
              </a:spcAft>
            </a:pPr>
            <a:r>
              <a:rPr sz="1100" b="0" i="0">
                <a:solidFill>
                  <a:srgbClr val="64748B"/>
                </a:solidFill>
                <a:latin typeface="Calibri"/>
              </a:rPr>
              <a:t>stored &amp; searchable</a:t>
            </a:r>
          </a:p>
        </p:txBody>
      </p:sp>
      <p:sp>
        <p:nvSpPr>
          <p:cNvPr id="14" name="Right Arrow 13"/>
          <p:cNvSpPr/>
          <p:nvPr/>
        </p:nvSpPr>
        <p:spPr>
          <a:xfrm>
            <a:off x="3017520" y="2542032"/>
            <a:ext cx="320040" cy="29260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5989320" y="2542032"/>
            <a:ext cx="320040" cy="29260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Arrow 15"/>
          <p:cNvSpPr/>
          <p:nvPr/>
        </p:nvSpPr>
        <p:spPr>
          <a:xfrm>
            <a:off x="8778240" y="2542032"/>
            <a:ext cx="320040" cy="29260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703320"/>
            <a:ext cx="10972800" cy="320040"/>
          </a:xfrm>
          <a:prstGeom prst="rect">
            <a:avLst/>
          </a:prstGeom>
          <a:noFill/>
        </p:spPr>
        <p:txBody>
          <a:bodyPr wrap="square" anchor="t" lIns="0" rIns="0" tIns="0" bIns="0">
            <a:spAutoFit/>
          </a:bodyPr>
          <a:lstStyle/>
          <a:p>
            <a:pPr algn="l">
              <a:spcAft>
                <a:spcPts val="600"/>
              </a:spcAft>
            </a:pPr>
            <a:r>
              <a:rPr sz="1300" b="1" i="0">
                <a:solidFill>
                  <a:srgbClr val="10B981"/>
                </a:solidFill>
                <a:latin typeface="Calibri"/>
              </a:rPr>
              <a:t>EVERY QUESTION  -  find the right passages, then answer from them</a:t>
            </a:r>
          </a:p>
        </p:txBody>
      </p:sp>
      <p:sp>
        <p:nvSpPr>
          <p:cNvPr id="18" name="Rounded Rectangle 17"/>
          <p:cNvSpPr/>
          <p:nvPr/>
        </p:nvSpPr>
        <p:spPr>
          <a:xfrm>
            <a:off x="640080" y="4114800"/>
            <a:ext cx="2286000" cy="91440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114800"/>
            <a:ext cx="1920240" cy="914400"/>
          </a:xfrm>
          <a:prstGeom prst="rect">
            <a:avLst/>
          </a:prstGeom>
          <a:noFill/>
        </p:spPr>
        <p:txBody>
          <a:bodyPr wrap="square" anchor="ctr" lIns="0" rIns="0" tIns="0" bIns="0">
            <a:spAutoFit/>
          </a:bodyPr>
          <a:lstStyle/>
          <a:p>
            <a:pPr algn="ctr">
              <a:spcAft>
                <a:spcPts val="200"/>
              </a:spcAft>
            </a:pPr>
            <a:r>
              <a:rPr sz="1400" b="1" i="0">
                <a:solidFill>
                  <a:srgbClr val="1E293B"/>
                </a:solidFill>
                <a:latin typeface="Calibri"/>
              </a:rPr>
              <a:t>Question</a:t>
            </a:r>
          </a:p>
          <a:p>
            <a:pPr algn="ctr">
              <a:spcAft>
                <a:spcPts val="0"/>
              </a:spcAft>
            </a:pPr>
            <a:r>
              <a:rPr sz="1100" b="0" i="0">
                <a:solidFill>
                  <a:srgbClr val="64748B"/>
                </a:solidFill>
                <a:latin typeface="Calibri"/>
              </a:rPr>
              <a:t>from the user</a:t>
            </a:r>
          </a:p>
        </p:txBody>
      </p:sp>
      <p:sp>
        <p:nvSpPr>
          <p:cNvPr id="20" name="Rounded Rectangle 19"/>
          <p:cNvSpPr/>
          <p:nvPr/>
        </p:nvSpPr>
        <p:spPr>
          <a:xfrm>
            <a:off x="3429000" y="4114800"/>
            <a:ext cx="2468880" cy="914400"/>
          </a:xfrm>
          <a:prstGeom prst="roundRect">
            <a:avLst>
              <a:gd name="adj" fmla="val 8000"/>
            </a:avLst>
          </a:prstGeom>
          <a:solidFill>
            <a:srgbClr val="E7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11880" y="4114800"/>
            <a:ext cx="2103120" cy="914400"/>
          </a:xfrm>
          <a:prstGeom prst="rect">
            <a:avLst/>
          </a:prstGeom>
          <a:noFill/>
        </p:spPr>
        <p:txBody>
          <a:bodyPr wrap="square" anchor="ctr" lIns="0" rIns="0" tIns="0" bIns="0">
            <a:spAutoFit/>
          </a:bodyPr>
          <a:lstStyle/>
          <a:p>
            <a:pPr algn="ctr">
              <a:spcAft>
                <a:spcPts val="200"/>
              </a:spcAft>
            </a:pPr>
            <a:r>
              <a:rPr sz="1400" b="1" i="0">
                <a:solidFill>
                  <a:srgbClr val="1E293B"/>
                </a:solidFill>
                <a:latin typeface="Calibri"/>
              </a:rPr>
              <a:t>Route + Retrieve</a:t>
            </a:r>
          </a:p>
          <a:p>
            <a:pPr algn="ctr">
              <a:spcAft>
                <a:spcPts val="0"/>
              </a:spcAft>
            </a:pPr>
            <a:r>
              <a:rPr sz="1100" b="0" i="0">
                <a:solidFill>
                  <a:srgbClr val="64748B"/>
                </a:solidFill>
                <a:latin typeface="Calibri"/>
              </a:rPr>
              <a:t>find best chunks</a:t>
            </a:r>
          </a:p>
        </p:txBody>
      </p:sp>
      <p:sp>
        <p:nvSpPr>
          <p:cNvPr id="22" name="Rounded Rectangle 21"/>
          <p:cNvSpPr/>
          <p:nvPr/>
        </p:nvSpPr>
        <p:spPr>
          <a:xfrm>
            <a:off x="6400800" y="4114800"/>
            <a:ext cx="2286000" cy="91440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0" y="4114800"/>
            <a:ext cx="1920240" cy="914400"/>
          </a:xfrm>
          <a:prstGeom prst="rect">
            <a:avLst/>
          </a:prstGeom>
          <a:noFill/>
        </p:spPr>
        <p:txBody>
          <a:bodyPr wrap="square" anchor="ctr" lIns="0" rIns="0" tIns="0" bIns="0">
            <a:spAutoFit/>
          </a:bodyPr>
          <a:lstStyle/>
          <a:p>
            <a:pPr algn="ctr">
              <a:spcAft>
                <a:spcPts val="200"/>
              </a:spcAft>
            </a:pPr>
            <a:r>
              <a:rPr sz="1400" b="1" i="0">
                <a:solidFill>
                  <a:srgbClr val="1E293B"/>
                </a:solidFill>
                <a:latin typeface="Calibri"/>
              </a:rPr>
              <a:t>LLM (Llama 3.3)</a:t>
            </a:r>
          </a:p>
          <a:p>
            <a:pPr algn="ctr">
              <a:spcAft>
                <a:spcPts val="0"/>
              </a:spcAft>
            </a:pPr>
            <a:r>
              <a:rPr sz="1100" b="0" i="0">
                <a:solidFill>
                  <a:srgbClr val="64748B"/>
                </a:solidFill>
                <a:latin typeface="Calibri"/>
              </a:rPr>
              <a:t>reads the chunks</a:t>
            </a:r>
          </a:p>
        </p:txBody>
      </p:sp>
      <p:sp>
        <p:nvSpPr>
          <p:cNvPr id="24" name="Rounded Rectangle 23"/>
          <p:cNvSpPr/>
          <p:nvPr/>
        </p:nvSpPr>
        <p:spPr>
          <a:xfrm>
            <a:off x="9189720" y="4114800"/>
            <a:ext cx="2331720" cy="914400"/>
          </a:xfrm>
          <a:prstGeom prst="roundRect">
            <a:avLst>
              <a:gd name="adj" fmla="val 8000"/>
            </a:avLst>
          </a:prstGeom>
          <a:solidFill>
            <a:srgbClr val="E7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72600" y="4114800"/>
            <a:ext cx="1965960" cy="914400"/>
          </a:xfrm>
          <a:prstGeom prst="rect">
            <a:avLst/>
          </a:prstGeom>
          <a:noFill/>
        </p:spPr>
        <p:txBody>
          <a:bodyPr wrap="square" anchor="ctr" lIns="0" rIns="0" tIns="0" bIns="0">
            <a:spAutoFit/>
          </a:bodyPr>
          <a:lstStyle/>
          <a:p>
            <a:pPr algn="ctr">
              <a:spcAft>
                <a:spcPts val="200"/>
              </a:spcAft>
            </a:pPr>
            <a:r>
              <a:rPr sz="1400" b="1" i="0">
                <a:solidFill>
                  <a:srgbClr val="1E293B"/>
                </a:solidFill>
                <a:latin typeface="Calibri"/>
              </a:rPr>
              <a:t>Grounded answer</a:t>
            </a:r>
          </a:p>
          <a:p>
            <a:pPr algn="ctr">
              <a:spcAft>
                <a:spcPts val="0"/>
              </a:spcAft>
            </a:pPr>
            <a:r>
              <a:rPr sz="1100" b="0" i="0">
                <a:solidFill>
                  <a:srgbClr val="64748B"/>
                </a:solidFill>
                <a:latin typeface="Calibri"/>
              </a:rPr>
              <a:t>+ citations</a:t>
            </a:r>
          </a:p>
        </p:txBody>
      </p:sp>
      <p:sp>
        <p:nvSpPr>
          <p:cNvPr id="26" name="Right Arrow 25"/>
          <p:cNvSpPr/>
          <p:nvPr/>
        </p:nvSpPr>
        <p:spPr>
          <a:xfrm>
            <a:off x="3017520" y="4462272"/>
            <a:ext cx="320040" cy="29260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ight Arrow 26"/>
          <p:cNvSpPr/>
          <p:nvPr/>
        </p:nvSpPr>
        <p:spPr>
          <a:xfrm>
            <a:off x="5989320" y="4462272"/>
            <a:ext cx="320040" cy="29260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Arrow 27"/>
          <p:cNvSpPr/>
          <p:nvPr/>
        </p:nvSpPr>
        <p:spPr>
          <a:xfrm>
            <a:off x="8778240" y="4462272"/>
            <a:ext cx="320040" cy="292608"/>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440680"/>
            <a:ext cx="10972800" cy="457200"/>
          </a:xfrm>
          <a:prstGeom prst="rect">
            <a:avLst/>
          </a:prstGeom>
          <a:noFill/>
        </p:spPr>
        <p:txBody>
          <a:bodyPr wrap="square" anchor="t" lIns="0" rIns="0" tIns="0" bIns="0">
            <a:spAutoFit/>
          </a:bodyPr>
          <a:lstStyle/>
          <a:p>
            <a:pPr algn="l">
              <a:spcAft>
                <a:spcPts val="600"/>
              </a:spcAft>
            </a:pPr>
            <a:r>
              <a:rPr sz="1400" b="0" i="1">
                <a:solidFill>
                  <a:srgbClr val="64748B"/>
                </a:solidFill>
                <a:latin typeface="Calibri"/>
              </a:rPr>
              <a:t>The top row runs once, ahead of time. The bottom row runs every time someone asks a question.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E33"/>
        </a:solidFill>
        <a:effectLst/>
      </p:bgPr>
    </p:bg>
    <p:spTree>
      <p:nvGrpSpPr>
        <p:cNvPr id="1" name=""/>
        <p:cNvGrpSpPr/>
        <p:nvPr/>
      </p:nvGrpSpPr>
      <p:grpSpPr/>
      <p:sp>
        <p:nvSpPr>
          <p:cNvPr id="2" name="Oval 1"/>
          <p:cNvSpPr/>
          <p:nvPr/>
        </p:nvSpPr>
        <p:spPr>
          <a:xfrm>
            <a:off x="658368" y="566928"/>
            <a:ext cx="109728" cy="10972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058400" cy="365760"/>
          </a:xfrm>
          <a:prstGeom prst="rect">
            <a:avLst/>
          </a:prstGeom>
          <a:noFill/>
        </p:spPr>
        <p:txBody>
          <a:bodyPr wrap="square" anchor="t" lIns="0" rIns="0" tIns="0" bIns="0">
            <a:spAutoFit/>
          </a:bodyPr>
          <a:lstStyle/>
          <a:p>
            <a:pPr algn="l">
              <a:spcAft>
                <a:spcPts val="600"/>
              </a:spcAft>
            </a:pPr>
            <a:r>
              <a:rPr sz="1300" b="1" i="0">
                <a:solidFill>
                  <a:srgbClr val="38BDF8"/>
                </a:solidFill>
                <a:latin typeface="Calibri"/>
              </a:rPr>
              <a:t>06 · THE KEY INSIGHT</a:t>
            </a:r>
          </a:p>
        </p:txBody>
      </p:sp>
      <p:sp>
        <p:nvSpPr>
          <p:cNvPr id="4" name="TextBox 3"/>
          <p:cNvSpPr txBox="1"/>
          <p:nvPr/>
        </p:nvSpPr>
        <p:spPr>
          <a:xfrm>
            <a:off x="640080" y="777240"/>
            <a:ext cx="10972800" cy="822960"/>
          </a:xfrm>
          <a:prstGeom prst="rect">
            <a:avLst/>
          </a:prstGeom>
          <a:noFill/>
        </p:spPr>
        <p:txBody>
          <a:bodyPr wrap="square" anchor="t" lIns="0" rIns="0" tIns="0" bIns="0">
            <a:spAutoFit/>
          </a:bodyPr>
          <a:lstStyle/>
          <a:p>
            <a:pPr algn="l">
              <a:spcAft>
                <a:spcPts val="600"/>
              </a:spcAft>
            </a:pPr>
            <a:r>
              <a:rPr sz="3400" b="1" i="0">
                <a:solidFill>
                  <a:srgbClr val="FFFFFF"/>
                </a:solidFill>
                <a:latin typeface="Cambria"/>
              </a:rPr>
              <a:t>Teaching it to read numbers, not 'number soup'</a:t>
            </a:r>
          </a:p>
        </p:txBody>
      </p:sp>
      <p:sp>
        <p:nvSpPr>
          <p:cNvPr id="5" name="TextBox 4"/>
          <p:cNvSpPr txBox="1"/>
          <p:nvPr/>
        </p:nvSpPr>
        <p:spPr>
          <a:xfrm>
            <a:off x="640080" y="1691640"/>
            <a:ext cx="10972800" cy="548640"/>
          </a:xfrm>
          <a:prstGeom prst="rect">
            <a:avLst/>
          </a:prstGeom>
          <a:noFill/>
        </p:spPr>
        <p:txBody>
          <a:bodyPr wrap="square" anchor="t" lIns="0" rIns="0" tIns="0" bIns="0">
            <a:spAutoFit/>
          </a:bodyPr>
          <a:lstStyle/>
          <a:p>
            <a:pPr algn="l">
              <a:lnSpc>
                <a:spcPct val="115000"/>
              </a:lnSpc>
              <a:spcAft>
                <a:spcPts val="600"/>
              </a:spcAft>
            </a:pPr>
            <a:r>
              <a:rPr sz="1500" b="0" i="0">
                <a:solidFill>
                  <a:srgbClr val="94A3B8"/>
                </a:solidFill>
                <a:latin typeface="Calibri"/>
              </a:rPr>
              <a:t>When a financial table is flattened into plain text, the numbers lose their labels. So FinChat also reads the filing's machine-readable data (XBRL) - and guarantees those numbers reach the AI.</a:t>
            </a:r>
          </a:p>
        </p:txBody>
      </p:sp>
      <p:sp>
        <p:nvSpPr>
          <p:cNvPr id="6" name="Rounded Rectangle 5"/>
          <p:cNvSpPr/>
          <p:nvPr/>
        </p:nvSpPr>
        <p:spPr>
          <a:xfrm>
            <a:off x="640080" y="2514600"/>
            <a:ext cx="5257800" cy="3108960"/>
          </a:xfrm>
          <a:prstGeom prst="roundRect">
            <a:avLst>
              <a:gd name="adj" fmla="val 8000"/>
            </a:avLst>
          </a:prstGeom>
          <a:solidFill>
            <a:srgbClr val="16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743200"/>
            <a:ext cx="4663440" cy="457200"/>
          </a:xfrm>
          <a:prstGeom prst="rect">
            <a:avLst/>
          </a:prstGeom>
          <a:noFill/>
        </p:spPr>
        <p:txBody>
          <a:bodyPr wrap="square" anchor="t" lIns="0" rIns="0" tIns="0" bIns="0">
            <a:spAutoFit/>
          </a:bodyPr>
          <a:lstStyle/>
          <a:p>
            <a:pPr algn="l">
              <a:spcAft>
                <a:spcPts val="600"/>
              </a:spcAft>
            </a:pPr>
            <a:r>
              <a:rPr sz="1700" b="1" i="0">
                <a:solidFill>
                  <a:srgbClr val="F59E0B"/>
                </a:solidFill>
                <a:latin typeface="Calibri"/>
              </a:rPr>
              <a:t>✗  </a:t>
            </a:r>
            <a:r>
              <a:rPr sz="1600" b="1" i="0">
                <a:solidFill>
                  <a:srgbClr val="FFFFFF"/>
                </a:solidFill>
                <a:latin typeface="Calibri"/>
              </a:rPr>
              <a:t>PLAIN RAG sees 'number soup'</a:t>
            </a:r>
          </a:p>
        </p:txBody>
      </p:sp>
      <p:sp>
        <p:nvSpPr>
          <p:cNvPr id="8" name="TextBox 7"/>
          <p:cNvSpPr txBox="1"/>
          <p:nvPr/>
        </p:nvSpPr>
        <p:spPr>
          <a:xfrm>
            <a:off x="960120" y="3383280"/>
            <a:ext cx="4663440" cy="2011680"/>
          </a:xfrm>
          <a:prstGeom prst="rect">
            <a:avLst/>
          </a:prstGeom>
          <a:noFill/>
        </p:spPr>
        <p:txBody>
          <a:bodyPr wrap="square" anchor="t" lIns="0" rIns="0" tIns="0" bIns="0">
            <a:spAutoFit/>
          </a:bodyPr>
          <a:lstStyle/>
          <a:p>
            <a:pPr algn="l">
              <a:lnSpc>
                <a:spcPct val="130000"/>
              </a:lnSpc>
              <a:spcAft>
                <a:spcPts val="1000"/>
              </a:spcAft>
            </a:pPr>
            <a:r>
              <a:rPr sz="1400" b="0" i="0">
                <a:solidFill>
                  <a:srgbClr val="94A3B8"/>
                </a:solidFill>
                <a:latin typeface="Consolas"/>
              </a:rPr>
              <a:t>... 383,285 214,137 169,148 29,915 24,932 114,301 ...</a:t>
            </a:r>
          </a:p>
          <a:p>
            <a:pPr algn="l">
              <a:spcAft>
                <a:spcPts val="600"/>
              </a:spcAft>
            </a:pPr>
            <a:r>
              <a:rPr sz="1350" b="0" i="1">
                <a:solidFill>
                  <a:srgbClr val="94A3B8"/>
                </a:solidFill>
                <a:latin typeface="Calibri"/>
              </a:rPr>
              <a:t>Which number is revenue? For which year? The AI can't tell - so it refuses or guesses.</a:t>
            </a:r>
          </a:p>
        </p:txBody>
      </p:sp>
      <p:sp>
        <p:nvSpPr>
          <p:cNvPr id="9" name="Rounded Rectangle 8"/>
          <p:cNvSpPr/>
          <p:nvPr/>
        </p:nvSpPr>
        <p:spPr>
          <a:xfrm>
            <a:off x="6263640" y="2514600"/>
            <a:ext cx="5257800" cy="3108960"/>
          </a:xfrm>
          <a:prstGeom prst="roundRect">
            <a:avLst>
              <a:gd name="adj" fmla="val 8000"/>
            </a:avLst>
          </a:prstGeom>
          <a:solidFill>
            <a:srgbClr val="0C3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743200"/>
            <a:ext cx="4663440" cy="457200"/>
          </a:xfrm>
          <a:prstGeom prst="rect">
            <a:avLst/>
          </a:prstGeom>
          <a:noFill/>
        </p:spPr>
        <p:txBody>
          <a:bodyPr wrap="square" anchor="t" lIns="0" rIns="0" tIns="0" bIns="0">
            <a:spAutoFit/>
          </a:bodyPr>
          <a:lstStyle/>
          <a:p>
            <a:pPr algn="l">
              <a:spcAft>
                <a:spcPts val="600"/>
              </a:spcAft>
            </a:pPr>
            <a:r>
              <a:rPr sz="1700" b="1" i="0">
                <a:solidFill>
                  <a:srgbClr val="10B981"/>
                </a:solidFill>
                <a:latin typeface="Calibri"/>
              </a:rPr>
              <a:t>✓  </a:t>
            </a:r>
            <a:r>
              <a:rPr sz="1600" b="1" i="0">
                <a:solidFill>
                  <a:srgbClr val="FFFFFF"/>
                </a:solidFill>
                <a:latin typeface="Calibri"/>
              </a:rPr>
              <a:t>FinChat reads structured XBRL</a:t>
            </a:r>
          </a:p>
        </p:txBody>
      </p:sp>
      <p:sp>
        <p:nvSpPr>
          <p:cNvPr id="11" name="TextBox 10"/>
          <p:cNvSpPr txBox="1"/>
          <p:nvPr/>
        </p:nvSpPr>
        <p:spPr>
          <a:xfrm>
            <a:off x="6583680" y="3383280"/>
            <a:ext cx="4663440" cy="2011680"/>
          </a:xfrm>
          <a:prstGeom prst="rect">
            <a:avLst/>
          </a:prstGeom>
          <a:noFill/>
        </p:spPr>
        <p:txBody>
          <a:bodyPr wrap="square" anchor="t" lIns="0" rIns="0" tIns="0" bIns="0">
            <a:spAutoFit/>
          </a:bodyPr>
          <a:lstStyle/>
          <a:p>
            <a:pPr algn="l">
              <a:spcAft>
                <a:spcPts val="400"/>
              </a:spcAft>
            </a:pPr>
            <a:r>
              <a:rPr sz="1500" b="1" i="0">
                <a:solidFill>
                  <a:srgbClr val="10B981"/>
                </a:solidFill>
                <a:latin typeface="Consolas"/>
              </a:rPr>
              <a:t>Net sales:  $383.29 billion</a:t>
            </a:r>
          </a:p>
          <a:p>
            <a:pPr algn="l">
              <a:spcAft>
                <a:spcPts val="400"/>
              </a:spcAft>
            </a:pPr>
            <a:r>
              <a:rPr sz="1500" b="1" i="0">
                <a:solidFill>
                  <a:srgbClr val="10B981"/>
                </a:solidFill>
                <a:latin typeface="Consolas"/>
              </a:rPr>
              <a:t>Net income: $97.00 billion</a:t>
            </a:r>
          </a:p>
          <a:p>
            <a:pPr algn="l">
              <a:spcAft>
                <a:spcPts val="1000"/>
              </a:spcAft>
            </a:pPr>
            <a:r>
              <a:rPr sz="1500" b="1" i="0">
                <a:solidFill>
                  <a:srgbClr val="10B981"/>
                </a:solidFill>
                <a:latin typeface="Consolas"/>
              </a:rPr>
              <a:t>Total assets: $352.58 billion</a:t>
            </a:r>
          </a:p>
          <a:p>
            <a:pPr algn="l">
              <a:spcAft>
                <a:spcPts val="600"/>
              </a:spcAft>
            </a:pPr>
            <a:r>
              <a:rPr sz="1350" b="0" i="1">
                <a:solidFill>
                  <a:srgbClr val="A7F3D0"/>
                </a:solidFill>
                <a:latin typeface="Calibri"/>
              </a:rPr>
              <a:t>Every figure keeps its label and year - clean, exact, answerable.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658368" y="566928"/>
            <a:ext cx="109728" cy="1097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058400" cy="365760"/>
          </a:xfrm>
          <a:prstGeom prst="rect">
            <a:avLst/>
          </a:prstGeom>
          <a:noFill/>
        </p:spPr>
        <p:txBody>
          <a:bodyPr wrap="square" anchor="t" lIns="0" rIns="0" tIns="0" bIns="0">
            <a:spAutoFit/>
          </a:bodyPr>
          <a:lstStyle/>
          <a:p>
            <a:pPr algn="l">
              <a:spcAft>
                <a:spcPts val="600"/>
              </a:spcAft>
            </a:pPr>
            <a:r>
              <a:rPr sz="1300" b="1" i="0">
                <a:solidFill>
                  <a:srgbClr val="0D9488"/>
                </a:solidFill>
                <a:latin typeface="Calibri"/>
              </a:rPr>
              <a:t>07 · NUMBERS DONE RIGHT</a:t>
            </a:r>
          </a:p>
        </p:txBody>
      </p:sp>
      <p:sp>
        <p:nvSpPr>
          <p:cNvPr id="4" name="TextBox 3"/>
          <p:cNvSpPr txBox="1"/>
          <p:nvPr/>
        </p:nvSpPr>
        <p:spPr>
          <a:xfrm>
            <a:off x="640080" y="777240"/>
            <a:ext cx="10972800" cy="822960"/>
          </a:xfrm>
          <a:prstGeom prst="rect">
            <a:avLst/>
          </a:prstGeom>
          <a:noFill/>
        </p:spPr>
        <p:txBody>
          <a:bodyPr wrap="square" anchor="t" lIns="0" rIns="0" tIns="0" bIns="0">
            <a:spAutoFit/>
          </a:bodyPr>
          <a:lstStyle/>
          <a:p>
            <a:pPr algn="l">
              <a:spcAft>
                <a:spcPts val="600"/>
              </a:spcAft>
            </a:pPr>
            <a:r>
              <a:rPr sz="3400" b="1" i="0">
                <a:solidFill>
                  <a:srgbClr val="1E293B"/>
                </a:solidFill>
                <a:latin typeface="Cambria"/>
              </a:rPr>
              <a:t>It computes the math itself - not the AI</a:t>
            </a:r>
          </a:p>
        </p:txBody>
      </p:sp>
      <p:sp>
        <p:nvSpPr>
          <p:cNvPr id="5" name="TextBox 4"/>
          <p:cNvSpPr txBox="1"/>
          <p:nvPr/>
        </p:nvSpPr>
        <p:spPr>
          <a:xfrm>
            <a:off x="640080" y="1691640"/>
            <a:ext cx="10972800" cy="548640"/>
          </a:xfrm>
          <a:prstGeom prst="rect">
            <a:avLst/>
          </a:prstGeom>
          <a:noFill/>
        </p:spPr>
        <p:txBody>
          <a:bodyPr wrap="square" anchor="t" lIns="0" rIns="0" tIns="0" bIns="0">
            <a:spAutoFit/>
          </a:bodyPr>
          <a:lstStyle/>
          <a:p>
            <a:pPr algn="l">
              <a:lnSpc>
                <a:spcPct val="115000"/>
              </a:lnSpc>
              <a:spcAft>
                <a:spcPts val="600"/>
              </a:spcAft>
            </a:pPr>
            <a:r>
              <a:rPr sz="1600" b="0" i="0">
                <a:solidFill>
                  <a:srgbClr val="64748B"/>
                </a:solidFill>
                <a:latin typeface="Calibri"/>
              </a:rPr>
              <a:t>Because language models are unreliable at arithmetic, FinChat computes financial ratios in plain Python code (exact and repeatable) and stores the answers - so the AI just reads them back.</a:t>
            </a:r>
          </a:p>
        </p:txBody>
      </p:sp>
      <p:sp>
        <p:nvSpPr>
          <p:cNvPr id="6" name="Rounded Rectangle 5"/>
          <p:cNvSpPr/>
          <p:nvPr/>
        </p:nvSpPr>
        <p:spPr>
          <a:xfrm>
            <a:off x="640080" y="2697480"/>
            <a:ext cx="3566160" cy="274320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05840" y="3017520"/>
            <a:ext cx="201168" cy="20116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25880" y="2999232"/>
            <a:ext cx="2651760" cy="457200"/>
          </a:xfrm>
          <a:prstGeom prst="rect">
            <a:avLst/>
          </a:prstGeom>
          <a:noFill/>
        </p:spPr>
        <p:txBody>
          <a:bodyPr wrap="square" anchor="t" lIns="0" rIns="0" tIns="0" bIns="0">
            <a:spAutoFit/>
          </a:bodyPr>
          <a:lstStyle/>
          <a:p>
            <a:pPr algn="l">
              <a:spcAft>
                <a:spcPts val="600"/>
              </a:spcAft>
            </a:pPr>
            <a:r>
              <a:rPr sz="1600" b="1" i="0">
                <a:solidFill>
                  <a:srgbClr val="1E293B"/>
                </a:solidFill>
                <a:latin typeface="Cambria"/>
              </a:rPr>
              <a:t>Profitability</a:t>
            </a:r>
          </a:p>
        </p:txBody>
      </p:sp>
      <p:sp>
        <p:nvSpPr>
          <p:cNvPr id="9" name="TextBox 8"/>
          <p:cNvSpPr txBox="1"/>
          <p:nvPr/>
        </p:nvSpPr>
        <p:spPr>
          <a:xfrm>
            <a:off x="1005840" y="3611880"/>
            <a:ext cx="2926080" cy="1737360"/>
          </a:xfrm>
          <a:prstGeom prst="rect">
            <a:avLst/>
          </a:prstGeom>
          <a:noFill/>
        </p:spPr>
        <p:txBody>
          <a:bodyPr wrap="square" anchor="t" lIns="0" rIns="0" tIns="0" bIns="0">
            <a:spAutoFit/>
          </a:bodyPr>
          <a:lstStyle/>
          <a:p>
            <a:pPr algn="l">
              <a:spcAft>
                <a:spcPts val="800"/>
              </a:spcAft>
            </a:pPr>
            <a:r>
              <a:rPr sz="1300" b="0" i="0">
                <a:solidFill>
                  <a:srgbClr val="64748B"/>
                </a:solidFill>
                <a:latin typeface="Calibri"/>
              </a:rPr>
              <a:t>Gross / operating / net margin</a:t>
            </a:r>
          </a:p>
          <a:p>
            <a:pPr algn="l">
              <a:spcAft>
                <a:spcPts val="800"/>
              </a:spcAft>
            </a:pPr>
            <a:r>
              <a:rPr sz="1300" b="0" i="0">
                <a:solidFill>
                  <a:srgbClr val="64748B"/>
                </a:solidFill>
                <a:latin typeface="Calibri"/>
              </a:rPr>
              <a:t>Return on assets &amp; equity (ROA/ROE)</a:t>
            </a:r>
          </a:p>
          <a:p>
            <a:pPr algn="l">
              <a:spcAft>
                <a:spcPts val="800"/>
              </a:spcAft>
            </a:pPr>
            <a:r>
              <a:rPr sz="1300" b="0" i="0">
                <a:solidFill>
                  <a:srgbClr val="64748B"/>
                </a:solidFill>
                <a:latin typeface="Calibri"/>
              </a:rPr>
              <a:t>EBITDA &amp; EBITDA-less-capex</a:t>
            </a:r>
          </a:p>
        </p:txBody>
      </p:sp>
      <p:sp>
        <p:nvSpPr>
          <p:cNvPr id="10" name="Rounded Rectangle 9"/>
          <p:cNvSpPr/>
          <p:nvPr/>
        </p:nvSpPr>
        <p:spPr>
          <a:xfrm>
            <a:off x="4389120" y="2697480"/>
            <a:ext cx="3566160" cy="274320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754880" y="3017520"/>
            <a:ext cx="201168" cy="201168"/>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74920" y="2999232"/>
            <a:ext cx="2651760" cy="457200"/>
          </a:xfrm>
          <a:prstGeom prst="rect">
            <a:avLst/>
          </a:prstGeom>
          <a:noFill/>
        </p:spPr>
        <p:txBody>
          <a:bodyPr wrap="square" anchor="t" lIns="0" rIns="0" tIns="0" bIns="0">
            <a:spAutoFit/>
          </a:bodyPr>
          <a:lstStyle/>
          <a:p>
            <a:pPr algn="l">
              <a:spcAft>
                <a:spcPts val="600"/>
              </a:spcAft>
            </a:pPr>
            <a:r>
              <a:rPr sz="1600" b="1" i="0">
                <a:solidFill>
                  <a:srgbClr val="1E293B"/>
                </a:solidFill>
                <a:latin typeface="Cambria"/>
              </a:rPr>
              <a:t>Liquidity &amp; leverage</a:t>
            </a:r>
          </a:p>
        </p:txBody>
      </p:sp>
      <p:sp>
        <p:nvSpPr>
          <p:cNvPr id="13" name="TextBox 12"/>
          <p:cNvSpPr txBox="1"/>
          <p:nvPr/>
        </p:nvSpPr>
        <p:spPr>
          <a:xfrm>
            <a:off x="4754880" y="3611880"/>
            <a:ext cx="2926080" cy="1737360"/>
          </a:xfrm>
          <a:prstGeom prst="rect">
            <a:avLst/>
          </a:prstGeom>
          <a:noFill/>
        </p:spPr>
        <p:txBody>
          <a:bodyPr wrap="square" anchor="t" lIns="0" rIns="0" tIns="0" bIns="0">
            <a:spAutoFit/>
          </a:bodyPr>
          <a:lstStyle/>
          <a:p>
            <a:pPr algn="l">
              <a:spcAft>
                <a:spcPts val="800"/>
              </a:spcAft>
            </a:pPr>
            <a:r>
              <a:rPr sz="1300" b="0" i="0">
                <a:solidFill>
                  <a:srgbClr val="64748B"/>
                </a:solidFill>
                <a:latin typeface="Calibri"/>
              </a:rPr>
              <a:t>Current ratio &amp; quick ratio</a:t>
            </a:r>
          </a:p>
          <a:p>
            <a:pPr algn="l">
              <a:spcAft>
                <a:spcPts val="800"/>
              </a:spcAft>
            </a:pPr>
            <a:r>
              <a:rPr sz="1300" b="0" i="0">
                <a:solidFill>
                  <a:srgbClr val="64748B"/>
                </a:solidFill>
                <a:latin typeface="Calibri"/>
              </a:rPr>
              <a:t>Debt-to-equity</a:t>
            </a:r>
          </a:p>
          <a:p>
            <a:pPr algn="l">
              <a:spcAft>
                <a:spcPts val="800"/>
              </a:spcAft>
            </a:pPr>
            <a:r>
              <a:rPr sz="1300" b="0" i="0">
                <a:solidFill>
                  <a:srgbClr val="64748B"/>
                </a:solidFill>
                <a:latin typeface="Calibri"/>
              </a:rPr>
              <a:t>Inventory &amp; receivables turnover</a:t>
            </a:r>
          </a:p>
        </p:txBody>
      </p:sp>
      <p:sp>
        <p:nvSpPr>
          <p:cNvPr id="14" name="Rounded Rectangle 13"/>
          <p:cNvSpPr/>
          <p:nvPr/>
        </p:nvSpPr>
        <p:spPr>
          <a:xfrm>
            <a:off x="8138159" y="2697480"/>
            <a:ext cx="3566160" cy="274320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503919" y="3017520"/>
            <a:ext cx="201168" cy="20116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23959" y="2999232"/>
            <a:ext cx="2651760" cy="457200"/>
          </a:xfrm>
          <a:prstGeom prst="rect">
            <a:avLst/>
          </a:prstGeom>
          <a:noFill/>
        </p:spPr>
        <p:txBody>
          <a:bodyPr wrap="square" anchor="t" lIns="0" rIns="0" tIns="0" bIns="0">
            <a:spAutoFit/>
          </a:bodyPr>
          <a:lstStyle/>
          <a:p>
            <a:pPr algn="l">
              <a:spcAft>
                <a:spcPts val="600"/>
              </a:spcAft>
            </a:pPr>
            <a:r>
              <a:rPr sz="1600" b="1" i="0">
                <a:solidFill>
                  <a:srgbClr val="1E293B"/>
                </a:solidFill>
                <a:latin typeface="Cambria"/>
              </a:rPr>
              <a:t>Cash &amp; trends</a:t>
            </a:r>
          </a:p>
        </p:txBody>
      </p:sp>
      <p:sp>
        <p:nvSpPr>
          <p:cNvPr id="17" name="TextBox 16"/>
          <p:cNvSpPr txBox="1"/>
          <p:nvPr/>
        </p:nvSpPr>
        <p:spPr>
          <a:xfrm>
            <a:off x="8503919" y="3611880"/>
            <a:ext cx="2926080" cy="1737360"/>
          </a:xfrm>
          <a:prstGeom prst="rect">
            <a:avLst/>
          </a:prstGeom>
          <a:noFill/>
        </p:spPr>
        <p:txBody>
          <a:bodyPr wrap="square" anchor="t" lIns="0" rIns="0" tIns="0" bIns="0">
            <a:spAutoFit/>
          </a:bodyPr>
          <a:lstStyle/>
          <a:p>
            <a:pPr algn="l">
              <a:spcAft>
                <a:spcPts val="800"/>
              </a:spcAft>
            </a:pPr>
            <a:r>
              <a:rPr sz="1300" b="0" i="0">
                <a:solidFill>
                  <a:srgbClr val="64748B"/>
                </a:solidFill>
                <a:latin typeface="Calibri"/>
              </a:rPr>
              <a:t>Free cash flow &amp; FCF conversion</a:t>
            </a:r>
          </a:p>
          <a:p>
            <a:pPr algn="l">
              <a:spcAft>
                <a:spcPts val="800"/>
              </a:spcAft>
            </a:pPr>
            <a:r>
              <a:rPr sz="1300" b="0" i="0">
                <a:solidFill>
                  <a:srgbClr val="64748B"/>
                </a:solidFill>
                <a:latin typeface="Calibri"/>
              </a:rPr>
              <a:t>Capex as % of revenue</a:t>
            </a:r>
          </a:p>
          <a:p>
            <a:pPr algn="l">
              <a:spcAft>
                <a:spcPts val="800"/>
              </a:spcAft>
            </a:pPr>
            <a:r>
              <a:rPr sz="1300" b="0" i="0">
                <a:solidFill>
                  <a:srgbClr val="64748B"/>
                </a:solidFill>
                <a:latin typeface="Calibri"/>
              </a:rPr>
              <a:t>Year-over-year change for every metric</a:t>
            </a:r>
          </a:p>
        </p:txBody>
      </p:sp>
      <p:sp>
        <p:nvSpPr>
          <p:cNvPr id="18" name="TextBox 17"/>
          <p:cNvSpPr txBox="1"/>
          <p:nvPr/>
        </p:nvSpPr>
        <p:spPr>
          <a:xfrm>
            <a:off x="640080" y="5715000"/>
            <a:ext cx="10972800" cy="457200"/>
          </a:xfrm>
          <a:prstGeom prst="rect">
            <a:avLst/>
          </a:prstGeom>
          <a:noFill/>
        </p:spPr>
        <p:txBody>
          <a:bodyPr wrap="square" anchor="t" lIns="0" rIns="0" tIns="0" bIns="0">
            <a:spAutoFit/>
          </a:bodyPr>
          <a:lstStyle/>
          <a:p>
            <a:pPr algn="l">
              <a:spcAft>
                <a:spcPts val="600"/>
              </a:spcAft>
            </a:pPr>
            <a:r>
              <a:rPr sz="1400" b="1" i="0">
                <a:solidFill>
                  <a:srgbClr val="0D9488"/>
                </a:solidFill>
                <a:latin typeface="Calibri"/>
              </a:rPr>
              <a:t>Example:  </a:t>
            </a:r>
            <a:r>
              <a:rPr sz="1400" b="0" i="1">
                <a:solidFill>
                  <a:srgbClr val="1E293B"/>
                </a:solidFill>
                <a:latin typeface="Calibri"/>
              </a:rPr>
              <a:t>Apple's quick ratio = 0.94, PepsiCo's return on equity = 52%, computed exactly from the filing - never guessed.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658368" y="566928"/>
            <a:ext cx="109728" cy="1097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058400" cy="365760"/>
          </a:xfrm>
          <a:prstGeom prst="rect">
            <a:avLst/>
          </a:prstGeom>
          <a:noFill/>
        </p:spPr>
        <p:txBody>
          <a:bodyPr wrap="square" anchor="t" lIns="0" rIns="0" tIns="0" bIns="0">
            <a:spAutoFit/>
          </a:bodyPr>
          <a:lstStyle/>
          <a:p>
            <a:pPr algn="l">
              <a:spcAft>
                <a:spcPts val="600"/>
              </a:spcAft>
            </a:pPr>
            <a:r>
              <a:rPr sz="1300" b="1" i="0">
                <a:solidFill>
                  <a:srgbClr val="0D9488"/>
                </a:solidFill>
                <a:latin typeface="Calibri"/>
              </a:rPr>
              <a:t>08 · TRUSTWORTHY BY DESIGN</a:t>
            </a:r>
          </a:p>
        </p:txBody>
      </p:sp>
      <p:sp>
        <p:nvSpPr>
          <p:cNvPr id="4" name="TextBox 3"/>
          <p:cNvSpPr txBox="1"/>
          <p:nvPr/>
        </p:nvSpPr>
        <p:spPr>
          <a:xfrm>
            <a:off x="640080" y="777240"/>
            <a:ext cx="10972800" cy="822960"/>
          </a:xfrm>
          <a:prstGeom prst="rect">
            <a:avLst/>
          </a:prstGeom>
          <a:noFill/>
        </p:spPr>
        <p:txBody>
          <a:bodyPr wrap="square" anchor="t" lIns="0" rIns="0" tIns="0" bIns="0">
            <a:spAutoFit/>
          </a:bodyPr>
          <a:lstStyle/>
          <a:p>
            <a:pPr algn="l">
              <a:spcAft>
                <a:spcPts val="600"/>
              </a:spcAft>
            </a:pPr>
            <a:r>
              <a:rPr sz="3400" b="1" i="0">
                <a:solidFill>
                  <a:srgbClr val="1E293B"/>
                </a:solidFill>
                <a:latin typeface="Cambria"/>
              </a:rPr>
              <a:t>Grounded, cited, and honest</a:t>
            </a:r>
          </a:p>
        </p:txBody>
      </p:sp>
      <p:sp>
        <p:nvSpPr>
          <p:cNvPr id="5" name="Rounded Rectangle 4"/>
          <p:cNvSpPr/>
          <p:nvPr/>
        </p:nvSpPr>
        <p:spPr>
          <a:xfrm>
            <a:off x="640080" y="1965960"/>
            <a:ext cx="10881360" cy="123444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2423160"/>
            <a:ext cx="320040" cy="32004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00200" y="2148840"/>
            <a:ext cx="9601200" cy="457200"/>
          </a:xfrm>
          <a:prstGeom prst="rect">
            <a:avLst/>
          </a:prstGeom>
          <a:noFill/>
        </p:spPr>
        <p:txBody>
          <a:bodyPr wrap="square" anchor="t" lIns="0" rIns="0" tIns="0" bIns="0">
            <a:spAutoFit/>
          </a:bodyPr>
          <a:lstStyle/>
          <a:p>
            <a:pPr algn="l">
              <a:spcAft>
                <a:spcPts val="300"/>
              </a:spcAft>
            </a:pPr>
            <a:r>
              <a:rPr sz="1800" b="1" i="0">
                <a:solidFill>
                  <a:srgbClr val="1E293B"/>
                </a:solidFill>
                <a:latin typeface="Cambria"/>
              </a:rPr>
              <a:t>Knows where to look</a:t>
            </a:r>
          </a:p>
          <a:p>
            <a:pPr algn="l">
              <a:lnSpc>
                <a:spcPct val="110000"/>
              </a:lnSpc>
              <a:spcAft>
                <a:spcPts val="0"/>
              </a:spcAft>
            </a:pPr>
            <a:r>
              <a:rPr sz="1400" b="0" i="0">
                <a:solidFill>
                  <a:srgbClr val="64748B"/>
                </a:solidFill>
                <a:latin typeface="Calibri"/>
              </a:rPr>
              <a:t>It detects which company you mean and searches only that company's filing - so answers don't get mixed up.</a:t>
            </a:r>
          </a:p>
        </p:txBody>
      </p:sp>
      <p:sp>
        <p:nvSpPr>
          <p:cNvPr id="8" name="Rounded Rectangle 7"/>
          <p:cNvSpPr/>
          <p:nvPr/>
        </p:nvSpPr>
        <p:spPr>
          <a:xfrm>
            <a:off x="640080" y="3383280"/>
            <a:ext cx="10881360" cy="123444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3840480"/>
            <a:ext cx="320040" cy="320040"/>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00200" y="3566160"/>
            <a:ext cx="9601200" cy="457200"/>
          </a:xfrm>
          <a:prstGeom prst="rect">
            <a:avLst/>
          </a:prstGeom>
          <a:noFill/>
        </p:spPr>
        <p:txBody>
          <a:bodyPr wrap="square" anchor="t" lIns="0" rIns="0" tIns="0" bIns="0">
            <a:spAutoFit/>
          </a:bodyPr>
          <a:lstStyle/>
          <a:p>
            <a:pPr algn="l">
              <a:spcAft>
                <a:spcPts val="300"/>
              </a:spcAft>
            </a:pPr>
            <a:r>
              <a:rPr sz="1800" b="1" i="0">
                <a:solidFill>
                  <a:srgbClr val="1E293B"/>
                </a:solidFill>
                <a:latin typeface="Cambria"/>
              </a:rPr>
              <a:t>Always cites its source</a:t>
            </a:r>
          </a:p>
          <a:p>
            <a:pPr algn="l">
              <a:lnSpc>
                <a:spcPct val="110000"/>
              </a:lnSpc>
              <a:spcAft>
                <a:spcPts val="0"/>
              </a:spcAft>
            </a:pPr>
            <a:r>
              <a:rPr sz="1400" b="0" i="0">
                <a:solidFill>
                  <a:srgbClr val="64748B"/>
                </a:solidFill>
                <a:latin typeface="Calibri"/>
              </a:rPr>
              <a:t>Every answer ends with the exact filing it used, so a reader can verify it. No black-box claims.</a:t>
            </a:r>
          </a:p>
        </p:txBody>
      </p:sp>
      <p:sp>
        <p:nvSpPr>
          <p:cNvPr id="11" name="Rounded Rectangle 10"/>
          <p:cNvSpPr/>
          <p:nvPr/>
        </p:nvSpPr>
        <p:spPr>
          <a:xfrm>
            <a:off x="640080" y="4800600"/>
            <a:ext cx="10881360" cy="123444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05840" y="5257800"/>
            <a:ext cx="320040" cy="3200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00200" y="4983480"/>
            <a:ext cx="9601200" cy="457200"/>
          </a:xfrm>
          <a:prstGeom prst="rect">
            <a:avLst/>
          </a:prstGeom>
          <a:noFill/>
        </p:spPr>
        <p:txBody>
          <a:bodyPr wrap="square" anchor="t" lIns="0" rIns="0" tIns="0" bIns="0">
            <a:spAutoFit/>
          </a:bodyPr>
          <a:lstStyle/>
          <a:p>
            <a:pPr algn="l">
              <a:spcAft>
                <a:spcPts val="300"/>
              </a:spcAft>
            </a:pPr>
            <a:r>
              <a:rPr sz="1800" b="1" i="0">
                <a:solidFill>
                  <a:srgbClr val="1E293B"/>
                </a:solidFill>
                <a:latin typeface="Cambria"/>
              </a:rPr>
              <a:t>Refuses to make things up</a:t>
            </a:r>
          </a:p>
          <a:p>
            <a:pPr algn="l">
              <a:lnSpc>
                <a:spcPct val="110000"/>
              </a:lnSpc>
              <a:spcAft>
                <a:spcPts val="0"/>
              </a:spcAft>
            </a:pPr>
            <a:r>
              <a:rPr sz="1400" b="0" i="0">
                <a:solidFill>
                  <a:srgbClr val="64748B"/>
                </a:solidFill>
                <a:latin typeface="Calibri"/>
              </a:rPr>
              <a:t>If the answer isn't in the filings, it says so - 'I couldn't find that in the filings I have' - instead of guessing.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658368" y="566928"/>
            <a:ext cx="109728" cy="1097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058400" cy="365760"/>
          </a:xfrm>
          <a:prstGeom prst="rect">
            <a:avLst/>
          </a:prstGeom>
          <a:noFill/>
        </p:spPr>
        <p:txBody>
          <a:bodyPr wrap="square" anchor="t" lIns="0" rIns="0" tIns="0" bIns="0">
            <a:spAutoFit/>
          </a:bodyPr>
          <a:lstStyle/>
          <a:p>
            <a:pPr algn="l">
              <a:spcAft>
                <a:spcPts val="600"/>
              </a:spcAft>
            </a:pPr>
            <a:r>
              <a:rPr sz="1300" b="1" i="0">
                <a:solidFill>
                  <a:srgbClr val="0D9488"/>
                </a:solidFill>
                <a:latin typeface="Calibri"/>
              </a:rPr>
              <a:t>09 · MEASURED HONESTLY</a:t>
            </a:r>
          </a:p>
        </p:txBody>
      </p:sp>
      <p:sp>
        <p:nvSpPr>
          <p:cNvPr id="4" name="TextBox 3"/>
          <p:cNvSpPr txBox="1"/>
          <p:nvPr/>
        </p:nvSpPr>
        <p:spPr>
          <a:xfrm>
            <a:off x="640080" y="777240"/>
            <a:ext cx="10972800" cy="822960"/>
          </a:xfrm>
          <a:prstGeom prst="rect">
            <a:avLst/>
          </a:prstGeom>
          <a:noFill/>
        </p:spPr>
        <p:txBody>
          <a:bodyPr wrap="square" anchor="t" lIns="0" rIns="0" tIns="0" bIns="0">
            <a:spAutoFit/>
          </a:bodyPr>
          <a:lstStyle/>
          <a:p>
            <a:pPr algn="l">
              <a:spcAft>
                <a:spcPts val="600"/>
              </a:spcAft>
            </a:pPr>
            <a:r>
              <a:rPr sz="3400" b="1" i="0">
                <a:solidFill>
                  <a:srgbClr val="1E293B"/>
                </a:solidFill>
                <a:latin typeface="Cambria"/>
              </a:rPr>
              <a:t>How well does it actually work?</a:t>
            </a:r>
          </a:p>
        </p:txBody>
      </p:sp>
      <p:sp>
        <p:nvSpPr>
          <p:cNvPr id="5" name="Rounded Rectangle 4"/>
          <p:cNvSpPr/>
          <p:nvPr/>
        </p:nvSpPr>
        <p:spPr>
          <a:xfrm>
            <a:off x="640080" y="1874519"/>
            <a:ext cx="3017520" cy="2011680"/>
          </a:xfrm>
          <a:prstGeom prst="roundRect">
            <a:avLst>
              <a:gd name="adj" fmla="val 8000"/>
            </a:avLst>
          </a:prstGeom>
          <a:solidFill>
            <a:srgbClr val="E6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148840"/>
            <a:ext cx="3017520" cy="1188720"/>
          </a:xfrm>
          <a:prstGeom prst="rect">
            <a:avLst/>
          </a:prstGeom>
          <a:noFill/>
        </p:spPr>
        <p:txBody>
          <a:bodyPr wrap="square" anchor="ctr" lIns="0" rIns="0" tIns="0" bIns="0">
            <a:spAutoFit/>
          </a:bodyPr>
          <a:lstStyle/>
          <a:p>
            <a:pPr algn="ctr">
              <a:spcAft>
                <a:spcPts val="0"/>
              </a:spcAft>
            </a:pPr>
            <a:r>
              <a:rPr sz="6000" b="1" i="0">
                <a:solidFill>
                  <a:srgbClr val="0D9488"/>
                </a:solidFill>
                <a:latin typeface="Cambria"/>
              </a:rPr>
              <a:t>93%</a:t>
            </a:r>
          </a:p>
        </p:txBody>
      </p:sp>
      <p:sp>
        <p:nvSpPr>
          <p:cNvPr id="7" name="TextBox 6"/>
          <p:cNvSpPr txBox="1"/>
          <p:nvPr/>
        </p:nvSpPr>
        <p:spPr>
          <a:xfrm>
            <a:off x="777240" y="3246120"/>
            <a:ext cx="2743200" cy="548640"/>
          </a:xfrm>
          <a:prstGeom prst="rect">
            <a:avLst/>
          </a:prstGeom>
          <a:noFill/>
        </p:spPr>
        <p:txBody>
          <a:bodyPr wrap="square" anchor="t" lIns="0" rIns="0" tIns="0" bIns="0">
            <a:spAutoFit/>
          </a:bodyPr>
          <a:lstStyle/>
          <a:p>
            <a:pPr algn="ctr">
              <a:spcAft>
                <a:spcPts val="600"/>
              </a:spcAft>
            </a:pPr>
            <a:r>
              <a:rPr sz="1250" b="0" i="0">
                <a:solidFill>
                  <a:srgbClr val="64748B"/>
                </a:solidFill>
                <a:latin typeface="Calibri"/>
              </a:rPr>
              <a:t>on the core task it's built for (business &amp; product questions)</a:t>
            </a:r>
          </a:p>
        </p:txBody>
      </p:sp>
      <p:graphicFrame>
        <p:nvGraphicFramePr>
          <p:cNvPr id="8" name="Chart 7"/>
          <p:cNvGraphicFramePr>
            <a:graphicFrameLocks noGrp="1"/>
          </p:cNvGraphicFramePr>
          <p:nvPr/>
        </p:nvGraphicFramePr>
        <p:xfrm>
          <a:off x="4023360" y="1828800"/>
          <a:ext cx="7498079" cy="3383280"/>
        </p:xfrm>
        <a:graphic>
          <a:graphicData uri="http://schemas.openxmlformats.org/drawingml/2006/chart">
            <c:chart xmlns:c="http://schemas.openxmlformats.org/drawingml/2006/chart" r:id="rId2"/>
          </a:graphicData>
        </a:graphic>
      </p:graphicFrame>
      <p:sp>
        <p:nvSpPr>
          <p:cNvPr id="9" name="TextBox 8"/>
          <p:cNvSpPr txBox="1"/>
          <p:nvPr/>
        </p:nvSpPr>
        <p:spPr>
          <a:xfrm>
            <a:off x="640080" y="5532120"/>
            <a:ext cx="10972800" cy="822960"/>
          </a:xfrm>
          <a:prstGeom prst="rect">
            <a:avLst/>
          </a:prstGeom>
          <a:noFill/>
        </p:spPr>
        <p:txBody>
          <a:bodyPr wrap="square" anchor="t" lIns="0" rIns="0" tIns="0" bIns="0">
            <a:spAutoFit/>
          </a:bodyPr>
          <a:lstStyle/>
          <a:p>
            <a:pPr algn="l">
              <a:lnSpc>
                <a:spcPct val="115000"/>
              </a:lnSpc>
              <a:spcAft>
                <a:spcPts val="600"/>
              </a:spcAft>
            </a:pPr>
            <a:r>
              <a:rPr sz="1450" b="1" i="0">
                <a:solidFill>
                  <a:srgbClr val="1E293B"/>
                </a:solidFill>
                <a:latin typeface="Calibri"/>
              </a:rPr>
              <a:t>The hybrid design more than doubled the score - and numeric questions went from 0% to 50%. </a:t>
            </a:r>
            <a:r>
              <a:rPr sz="1450" b="0" i="1">
                <a:solidFill>
                  <a:srgbClr val="64748B"/>
                </a:solidFill>
                <a:latin typeface="Calibri"/>
              </a:rPr>
              <a:t>For context, GPT-4 in a naive RAG setup scores ~19% on this benchmark.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658368" y="566928"/>
            <a:ext cx="109728" cy="109728"/>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457200"/>
            <a:ext cx="10058400" cy="365760"/>
          </a:xfrm>
          <a:prstGeom prst="rect">
            <a:avLst/>
          </a:prstGeom>
          <a:noFill/>
        </p:spPr>
        <p:txBody>
          <a:bodyPr wrap="square" anchor="t" lIns="0" rIns="0" tIns="0" bIns="0">
            <a:spAutoFit/>
          </a:bodyPr>
          <a:lstStyle/>
          <a:p>
            <a:pPr algn="l">
              <a:spcAft>
                <a:spcPts val="600"/>
              </a:spcAft>
            </a:pPr>
            <a:r>
              <a:rPr sz="1300" b="1" i="0">
                <a:solidFill>
                  <a:srgbClr val="0D9488"/>
                </a:solidFill>
                <a:latin typeface="Calibri"/>
              </a:rPr>
              <a:t>10 · ENGINEERING CHALLENGES</a:t>
            </a:r>
          </a:p>
        </p:txBody>
      </p:sp>
      <p:sp>
        <p:nvSpPr>
          <p:cNvPr id="4" name="TextBox 3"/>
          <p:cNvSpPr txBox="1"/>
          <p:nvPr/>
        </p:nvSpPr>
        <p:spPr>
          <a:xfrm>
            <a:off x="640080" y="777240"/>
            <a:ext cx="10972800" cy="822960"/>
          </a:xfrm>
          <a:prstGeom prst="rect">
            <a:avLst/>
          </a:prstGeom>
          <a:noFill/>
        </p:spPr>
        <p:txBody>
          <a:bodyPr wrap="square" anchor="t" lIns="0" rIns="0" tIns="0" bIns="0">
            <a:spAutoFit/>
          </a:bodyPr>
          <a:lstStyle/>
          <a:p>
            <a:pPr algn="l">
              <a:spcAft>
                <a:spcPts val="600"/>
              </a:spcAft>
            </a:pPr>
            <a:r>
              <a:rPr sz="3400" b="1" i="0">
                <a:solidFill>
                  <a:srgbClr val="1E293B"/>
                </a:solidFill>
                <a:latin typeface="Cambria"/>
              </a:rPr>
              <a:t>Problems I hit - and solved</a:t>
            </a:r>
          </a:p>
        </p:txBody>
      </p:sp>
      <p:sp>
        <p:nvSpPr>
          <p:cNvPr id="5" name="Rounded Rectangle 4"/>
          <p:cNvSpPr/>
          <p:nvPr/>
        </p:nvSpPr>
        <p:spPr>
          <a:xfrm>
            <a:off x="640080" y="1920240"/>
            <a:ext cx="3566160" cy="141732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60119" y="2212848"/>
            <a:ext cx="182880" cy="18288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0160" y="2148840"/>
            <a:ext cx="2743200" cy="457200"/>
          </a:xfrm>
          <a:prstGeom prst="rect">
            <a:avLst/>
          </a:prstGeom>
          <a:noFill/>
        </p:spPr>
        <p:txBody>
          <a:bodyPr wrap="square" anchor="t" lIns="0" rIns="0" tIns="0" bIns="0">
            <a:spAutoFit/>
          </a:bodyPr>
          <a:lstStyle/>
          <a:p>
            <a:pPr algn="l">
              <a:spcAft>
                <a:spcPts val="300"/>
              </a:spcAft>
            </a:pPr>
            <a:r>
              <a:rPr sz="1450" b="1" i="0">
                <a:solidFill>
                  <a:srgbClr val="1E293B"/>
                </a:solidFill>
                <a:latin typeface="Calibri"/>
              </a:rPr>
              <a:t>'Number soup'</a:t>
            </a:r>
          </a:p>
        </p:txBody>
      </p:sp>
      <p:sp>
        <p:nvSpPr>
          <p:cNvPr id="8" name="TextBox 7"/>
          <p:cNvSpPr txBox="1"/>
          <p:nvPr/>
        </p:nvSpPr>
        <p:spPr>
          <a:xfrm>
            <a:off x="960119" y="2578608"/>
            <a:ext cx="2971800" cy="640080"/>
          </a:xfrm>
          <a:prstGeom prst="rect">
            <a:avLst/>
          </a:prstGeom>
          <a:noFill/>
        </p:spPr>
        <p:txBody>
          <a:bodyPr wrap="square" anchor="t" lIns="0" rIns="0" tIns="0" bIns="0">
            <a:spAutoFit/>
          </a:bodyPr>
          <a:lstStyle/>
          <a:p>
            <a:pPr algn="l">
              <a:lnSpc>
                <a:spcPct val="108000"/>
              </a:lnSpc>
              <a:spcAft>
                <a:spcPts val="0"/>
              </a:spcAft>
            </a:pPr>
            <a:r>
              <a:rPr sz="1200" b="0" i="0">
                <a:solidFill>
                  <a:srgbClr val="64748B"/>
                </a:solidFill>
                <a:latin typeface="Calibri"/>
              </a:rPr>
              <a:t>Extracted the filing's structured XBRL data and computed ratios in code.</a:t>
            </a:r>
          </a:p>
        </p:txBody>
      </p:sp>
      <p:sp>
        <p:nvSpPr>
          <p:cNvPr id="9" name="Rounded Rectangle 8"/>
          <p:cNvSpPr/>
          <p:nvPr/>
        </p:nvSpPr>
        <p:spPr>
          <a:xfrm>
            <a:off x="4297680" y="1920240"/>
            <a:ext cx="3566160" cy="141732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617720" y="2212848"/>
            <a:ext cx="182880" cy="182880"/>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2148840"/>
            <a:ext cx="2743200" cy="457200"/>
          </a:xfrm>
          <a:prstGeom prst="rect">
            <a:avLst/>
          </a:prstGeom>
          <a:noFill/>
        </p:spPr>
        <p:txBody>
          <a:bodyPr wrap="square" anchor="t" lIns="0" rIns="0" tIns="0" bIns="0">
            <a:spAutoFit/>
          </a:bodyPr>
          <a:lstStyle/>
          <a:p>
            <a:pPr algn="l">
              <a:spcAft>
                <a:spcPts val="300"/>
              </a:spcAft>
            </a:pPr>
            <a:r>
              <a:rPr sz="1450" b="1" i="0">
                <a:solidFill>
                  <a:srgbClr val="1E293B"/>
                </a:solidFill>
                <a:latin typeface="Calibri"/>
              </a:rPr>
              <a:t>Numbers got out-ranked</a:t>
            </a:r>
          </a:p>
        </p:txBody>
      </p:sp>
      <p:sp>
        <p:nvSpPr>
          <p:cNvPr id="12" name="TextBox 11"/>
          <p:cNvSpPr txBox="1"/>
          <p:nvPr/>
        </p:nvSpPr>
        <p:spPr>
          <a:xfrm>
            <a:off x="4617720" y="2578608"/>
            <a:ext cx="2971800" cy="640080"/>
          </a:xfrm>
          <a:prstGeom prst="rect">
            <a:avLst/>
          </a:prstGeom>
          <a:noFill/>
        </p:spPr>
        <p:txBody>
          <a:bodyPr wrap="square" anchor="t" lIns="0" rIns="0" tIns="0" bIns="0">
            <a:spAutoFit/>
          </a:bodyPr>
          <a:lstStyle/>
          <a:p>
            <a:pPr algn="l">
              <a:lnSpc>
                <a:spcPct val="108000"/>
              </a:lnSpc>
              <a:spcAft>
                <a:spcPts val="0"/>
              </a:spcAft>
            </a:pPr>
            <a:r>
              <a:rPr sz="1200" b="0" i="0">
                <a:solidFill>
                  <a:srgbClr val="64748B"/>
                </a:solidFill>
                <a:latin typeface="Calibri"/>
              </a:rPr>
              <a:t>Built 'hybrid retrieval' that guarantees the financial data reaches the AI.</a:t>
            </a:r>
          </a:p>
        </p:txBody>
      </p:sp>
      <p:sp>
        <p:nvSpPr>
          <p:cNvPr id="13" name="Rounded Rectangle 12"/>
          <p:cNvSpPr/>
          <p:nvPr/>
        </p:nvSpPr>
        <p:spPr>
          <a:xfrm>
            <a:off x="7955279" y="1920240"/>
            <a:ext cx="3566160" cy="141732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75319" y="2212848"/>
            <a:ext cx="182880" cy="18288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59" y="2148840"/>
            <a:ext cx="2743200" cy="457200"/>
          </a:xfrm>
          <a:prstGeom prst="rect">
            <a:avLst/>
          </a:prstGeom>
          <a:noFill/>
        </p:spPr>
        <p:txBody>
          <a:bodyPr wrap="square" anchor="t" lIns="0" rIns="0" tIns="0" bIns="0">
            <a:spAutoFit/>
          </a:bodyPr>
          <a:lstStyle/>
          <a:p>
            <a:pPr algn="l">
              <a:spcAft>
                <a:spcPts val="300"/>
              </a:spcAft>
            </a:pPr>
            <a:r>
              <a:rPr sz="1450" b="1" i="0">
                <a:solidFill>
                  <a:srgbClr val="1E293B"/>
                </a:solidFill>
                <a:latin typeface="Calibri"/>
              </a:rPr>
              <a:t>Bank statements are different</a:t>
            </a:r>
          </a:p>
        </p:txBody>
      </p:sp>
      <p:sp>
        <p:nvSpPr>
          <p:cNvPr id="16" name="TextBox 15"/>
          <p:cNvSpPr txBox="1"/>
          <p:nvPr/>
        </p:nvSpPr>
        <p:spPr>
          <a:xfrm>
            <a:off x="8275319" y="2578608"/>
            <a:ext cx="2971800" cy="640080"/>
          </a:xfrm>
          <a:prstGeom prst="rect">
            <a:avLst/>
          </a:prstGeom>
          <a:noFill/>
        </p:spPr>
        <p:txBody>
          <a:bodyPr wrap="square" anchor="t" lIns="0" rIns="0" tIns="0" bIns="0">
            <a:spAutoFit/>
          </a:bodyPr>
          <a:lstStyle/>
          <a:p>
            <a:pPr algn="l">
              <a:lnSpc>
                <a:spcPct val="108000"/>
              </a:lnSpc>
              <a:spcAft>
                <a:spcPts val="0"/>
              </a:spcAft>
            </a:pPr>
            <a:r>
              <a:rPr sz="1200" b="0" i="0">
                <a:solidFill>
                  <a:srgbClr val="64748B"/>
                </a:solidFill>
                <a:latin typeface="Calibri"/>
              </a:rPr>
              <a:t>Detected financial companies and computed only the ratios that apply to them.</a:t>
            </a:r>
          </a:p>
        </p:txBody>
      </p:sp>
      <p:sp>
        <p:nvSpPr>
          <p:cNvPr id="17" name="Rounded Rectangle 16"/>
          <p:cNvSpPr/>
          <p:nvPr/>
        </p:nvSpPr>
        <p:spPr>
          <a:xfrm>
            <a:off x="640080" y="3520440"/>
            <a:ext cx="3566160" cy="141732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19" y="3813048"/>
            <a:ext cx="182880" cy="18288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0160" y="3749039"/>
            <a:ext cx="2743200" cy="457200"/>
          </a:xfrm>
          <a:prstGeom prst="rect">
            <a:avLst/>
          </a:prstGeom>
          <a:noFill/>
        </p:spPr>
        <p:txBody>
          <a:bodyPr wrap="square" anchor="t" lIns="0" rIns="0" tIns="0" bIns="0">
            <a:spAutoFit/>
          </a:bodyPr>
          <a:lstStyle/>
          <a:p>
            <a:pPr algn="l">
              <a:spcAft>
                <a:spcPts val="300"/>
              </a:spcAft>
            </a:pPr>
            <a:r>
              <a:rPr sz="1450" b="1" i="0">
                <a:solidFill>
                  <a:srgbClr val="1E293B"/>
                </a:solidFill>
                <a:latin typeface="Calibri"/>
              </a:rPr>
              <a:t>Deployment kept breaking</a:t>
            </a:r>
          </a:p>
        </p:txBody>
      </p:sp>
      <p:sp>
        <p:nvSpPr>
          <p:cNvPr id="20" name="TextBox 19"/>
          <p:cNvSpPr txBox="1"/>
          <p:nvPr/>
        </p:nvSpPr>
        <p:spPr>
          <a:xfrm>
            <a:off x="960119" y="4178808"/>
            <a:ext cx="2971800" cy="640080"/>
          </a:xfrm>
          <a:prstGeom prst="rect">
            <a:avLst/>
          </a:prstGeom>
          <a:noFill/>
        </p:spPr>
        <p:txBody>
          <a:bodyPr wrap="square" anchor="t" lIns="0" rIns="0" tIns="0" bIns="0">
            <a:spAutoFit/>
          </a:bodyPr>
          <a:lstStyle/>
          <a:p>
            <a:pPr algn="l">
              <a:lnSpc>
                <a:spcPct val="108000"/>
              </a:lnSpc>
              <a:spcAft>
                <a:spcPts val="0"/>
              </a:spcAft>
            </a:pPr>
            <a:r>
              <a:rPr sz="1200" b="0" i="0">
                <a:solidFill>
                  <a:srgbClr val="64748B"/>
                </a:solidFill>
                <a:latin typeface="Calibri"/>
              </a:rPr>
              <a:t>Pinned exact software versions and shipped a pre-built index so it starts instantly.</a:t>
            </a:r>
          </a:p>
        </p:txBody>
      </p:sp>
      <p:sp>
        <p:nvSpPr>
          <p:cNvPr id="21" name="Rounded Rectangle 20"/>
          <p:cNvSpPr/>
          <p:nvPr/>
        </p:nvSpPr>
        <p:spPr>
          <a:xfrm>
            <a:off x="4297680" y="3520440"/>
            <a:ext cx="3566160" cy="141732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617720" y="3813048"/>
            <a:ext cx="182880" cy="182880"/>
          </a:xfrm>
          <a:prstGeom prst="ellipse">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37760" y="3749039"/>
            <a:ext cx="2743200" cy="457200"/>
          </a:xfrm>
          <a:prstGeom prst="rect">
            <a:avLst/>
          </a:prstGeom>
          <a:noFill/>
        </p:spPr>
        <p:txBody>
          <a:bodyPr wrap="square" anchor="t" lIns="0" rIns="0" tIns="0" bIns="0">
            <a:spAutoFit/>
          </a:bodyPr>
          <a:lstStyle/>
          <a:p>
            <a:pPr algn="l">
              <a:spcAft>
                <a:spcPts val="300"/>
              </a:spcAft>
            </a:pPr>
            <a:r>
              <a:rPr sz="1450" b="1" i="0">
                <a:solidFill>
                  <a:srgbClr val="1E293B"/>
                </a:solidFill>
                <a:latin typeface="Calibri"/>
              </a:rPr>
              <a:t>Files kept corrupting</a:t>
            </a:r>
          </a:p>
        </p:txBody>
      </p:sp>
      <p:sp>
        <p:nvSpPr>
          <p:cNvPr id="24" name="TextBox 23"/>
          <p:cNvSpPr txBox="1"/>
          <p:nvPr/>
        </p:nvSpPr>
        <p:spPr>
          <a:xfrm>
            <a:off x="4617720" y="4178808"/>
            <a:ext cx="2971800" cy="640080"/>
          </a:xfrm>
          <a:prstGeom prst="rect">
            <a:avLst/>
          </a:prstGeom>
          <a:noFill/>
        </p:spPr>
        <p:txBody>
          <a:bodyPr wrap="square" anchor="t" lIns="0" rIns="0" tIns="0" bIns="0">
            <a:spAutoFit/>
          </a:bodyPr>
          <a:lstStyle/>
          <a:p>
            <a:pPr algn="l">
              <a:lnSpc>
                <a:spcPct val="108000"/>
              </a:lnSpc>
              <a:spcAft>
                <a:spcPts val="0"/>
              </a:spcAft>
            </a:pPr>
            <a:r>
              <a:rPr sz="1200" b="0" i="0">
                <a:solidFill>
                  <a:srgbClr val="64748B"/>
                </a:solidFill>
                <a:latin typeface="Calibri"/>
              </a:rPr>
              <a:t>Diagnosed OneDrive locking the database; moved the project to a clean local folder.</a:t>
            </a:r>
          </a:p>
        </p:txBody>
      </p:sp>
      <p:sp>
        <p:nvSpPr>
          <p:cNvPr id="25" name="Rounded Rectangle 24"/>
          <p:cNvSpPr/>
          <p:nvPr/>
        </p:nvSpPr>
        <p:spPr>
          <a:xfrm>
            <a:off x="7955279" y="3520440"/>
            <a:ext cx="3566160" cy="1417320"/>
          </a:xfrm>
          <a:prstGeom prst="roundRect">
            <a:avLst>
              <a:gd name="adj" fmla="val 800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275319" y="3813048"/>
            <a:ext cx="182880" cy="182880"/>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59" y="3749039"/>
            <a:ext cx="2743200" cy="457200"/>
          </a:xfrm>
          <a:prstGeom prst="rect">
            <a:avLst/>
          </a:prstGeom>
          <a:noFill/>
        </p:spPr>
        <p:txBody>
          <a:bodyPr wrap="square" anchor="t" lIns="0" rIns="0" tIns="0" bIns="0">
            <a:spAutoFit/>
          </a:bodyPr>
          <a:lstStyle/>
          <a:p>
            <a:pPr algn="l">
              <a:spcAft>
                <a:spcPts val="300"/>
              </a:spcAft>
            </a:pPr>
            <a:r>
              <a:rPr sz="1450" b="1" i="0">
                <a:solidFill>
                  <a:srgbClr val="1E293B"/>
                </a:solidFill>
                <a:latin typeface="Calibri"/>
              </a:rPr>
              <a:t>Free-tier limits</a:t>
            </a:r>
          </a:p>
        </p:txBody>
      </p:sp>
      <p:sp>
        <p:nvSpPr>
          <p:cNvPr id="28" name="TextBox 27"/>
          <p:cNvSpPr txBox="1"/>
          <p:nvPr/>
        </p:nvSpPr>
        <p:spPr>
          <a:xfrm>
            <a:off x="8275319" y="4178808"/>
            <a:ext cx="2971800" cy="640080"/>
          </a:xfrm>
          <a:prstGeom prst="rect">
            <a:avLst/>
          </a:prstGeom>
          <a:noFill/>
        </p:spPr>
        <p:txBody>
          <a:bodyPr wrap="square" anchor="t" lIns="0" rIns="0" tIns="0" bIns="0">
            <a:spAutoFit/>
          </a:bodyPr>
          <a:lstStyle/>
          <a:p>
            <a:pPr algn="l">
              <a:lnSpc>
                <a:spcPct val="108000"/>
              </a:lnSpc>
              <a:spcAft>
                <a:spcPts val="0"/>
              </a:spcAft>
            </a:pPr>
            <a:r>
              <a:rPr sz="1200" b="0" i="0">
                <a:solidFill>
                  <a:srgbClr val="64748B"/>
                </a:solidFill>
                <a:latin typeface="Calibri"/>
              </a:rPr>
              <a:t>Added retries, cheaper models for grading, and careful token budgeting.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E33"/>
        </a:solidFill>
        <a:effectLst/>
      </p:bgPr>
    </p:bg>
    <p:spTree>
      <p:nvGrpSpPr>
        <p:cNvPr id="1" name=""/>
        <p:cNvGrpSpPr/>
        <p:nvPr/>
      </p:nvGrpSpPr>
      <p:grpSpPr/>
      <p:sp>
        <p:nvSpPr>
          <p:cNvPr id="2" name="Oval 1"/>
          <p:cNvSpPr/>
          <p:nvPr/>
        </p:nvSpPr>
        <p:spPr>
          <a:xfrm>
            <a:off x="658368" y="640080"/>
            <a:ext cx="128016" cy="128016"/>
          </a:xfrm>
          <a:prstGeom prst="ellipse">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30352"/>
            <a:ext cx="10058400" cy="365760"/>
          </a:xfrm>
          <a:prstGeom prst="rect">
            <a:avLst/>
          </a:prstGeom>
          <a:noFill/>
        </p:spPr>
        <p:txBody>
          <a:bodyPr wrap="square" anchor="t" lIns="0" rIns="0" tIns="0" bIns="0">
            <a:spAutoFit/>
          </a:bodyPr>
          <a:lstStyle/>
          <a:p>
            <a:pPr algn="l">
              <a:spcAft>
                <a:spcPts val="600"/>
              </a:spcAft>
            </a:pPr>
            <a:r>
              <a:rPr sz="1300" b="1" i="0">
                <a:solidFill>
                  <a:srgbClr val="38BDF8"/>
                </a:solidFill>
                <a:latin typeface="Calibri"/>
              </a:rPr>
              <a:t>IN SUMMARY</a:t>
            </a:r>
          </a:p>
        </p:txBody>
      </p:sp>
      <p:sp>
        <p:nvSpPr>
          <p:cNvPr id="4" name="TextBox 3"/>
          <p:cNvSpPr txBox="1"/>
          <p:nvPr/>
        </p:nvSpPr>
        <p:spPr>
          <a:xfrm>
            <a:off x="640080" y="868680"/>
            <a:ext cx="10972800" cy="822960"/>
          </a:xfrm>
          <a:prstGeom prst="rect">
            <a:avLst/>
          </a:prstGeom>
          <a:noFill/>
        </p:spPr>
        <p:txBody>
          <a:bodyPr wrap="square" anchor="t" lIns="0" rIns="0" tIns="0" bIns="0">
            <a:spAutoFit/>
          </a:bodyPr>
          <a:lstStyle/>
          <a:p>
            <a:pPr algn="l">
              <a:spcAft>
                <a:spcPts val="600"/>
              </a:spcAft>
            </a:pPr>
            <a:r>
              <a:rPr sz="3400" b="1" i="0">
                <a:solidFill>
                  <a:srgbClr val="FFFFFF"/>
                </a:solidFill>
                <a:latin typeface="Cambria"/>
              </a:rPr>
              <a:t>FinChat, end to end</a:t>
            </a:r>
          </a:p>
        </p:txBody>
      </p:sp>
      <p:sp>
        <p:nvSpPr>
          <p:cNvPr id="5" name="Rounded Rectangle 4"/>
          <p:cNvSpPr/>
          <p:nvPr/>
        </p:nvSpPr>
        <p:spPr>
          <a:xfrm>
            <a:off x="640080" y="1920240"/>
            <a:ext cx="2606040" cy="1371600"/>
          </a:xfrm>
          <a:prstGeom prst="roundRect">
            <a:avLst>
              <a:gd name="adj" fmla="val 8000"/>
            </a:avLst>
          </a:prstGeom>
          <a:solidFill>
            <a:srgbClr val="16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84831"/>
            <a:ext cx="2606040" cy="731520"/>
          </a:xfrm>
          <a:prstGeom prst="rect">
            <a:avLst/>
          </a:prstGeom>
          <a:noFill/>
        </p:spPr>
        <p:txBody>
          <a:bodyPr wrap="square" anchor="ctr" lIns="0" rIns="0" tIns="0" bIns="0">
            <a:spAutoFit/>
          </a:bodyPr>
          <a:lstStyle/>
          <a:p>
            <a:pPr algn="ctr">
              <a:spcAft>
                <a:spcPts val="0"/>
              </a:spcAft>
            </a:pPr>
            <a:r>
              <a:rPr sz="3200" b="1" i="0">
                <a:solidFill>
                  <a:srgbClr val="38BDF8"/>
                </a:solidFill>
                <a:latin typeface="Cambria"/>
              </a:rPr>
              <a:t>25</a:t>
            </a:r>
          </a:p>
        </p:txBody>
      </p:sp>
      <p:sp>
        <p:nvSpPr>
          <p:cNvPr id="7" name="TextBox 6"/>
          <p:cNvSpPr txBox="1"/>
          <p:nvPr/>
        </p:nvSpPr>
        <p:spPr>
          <a:xfrm>
            <a:off x="640080" y="2788920"/>
            <a:ext cx="2606040" cy="411480"/>
          </a:xfrm>
          <a:prstGeom prst="rect">
            <a:avLst/>
          </a:prstGeom>
          <a:noFill/>
        </p:spPr>
        <p:txBody>
          <a:bodyPr wrap="square" anchor="t" lIns="0" rIns="0" tIns="0" bIns="0">
            <a:spAutoFit/>
          </a:bodyPr>
          <a:lstStyle/>
          <a:p>
            <a:pPr algn="ctr">
              <a:spcAft>
                <a:spcPts val="0"/>
              </a:spcAft>
            </a:pPr>
            <a:r>
              <a:rPr sz="1300" b="0" i="0">
                <a:solidFill>
                  <a:srgbClr val="94A3B8"/>
                </a:solidFill>
                <a:latin typeface="Calibri"/>
              </a:rPr>
              <a:t>companies</a:t>
            </a:r>
          </a:p>
        </p:txBody>
      </p:sp>
      <p:sp>
        <p:nvSpPr>
          <p:cNvPr id="8" name="Rounded Rectangle 7"/>
          <p:cNvSpPr/>
          <p:nvPr/>
        </p:nvSpPr>
        <p:spPr>
          <a:xfrm>
            <a:off x="3383280" y="1920240"/>
            <a:ext cx="2606040" cy="1371600"/>
          </a:xfrm>
          <a:prstGeom prst="roundRect">
            <a:avLst>
              <a:gd name="adj" fmla="val 8000"/>
            </a:avLst>
          </a:prstGeom>
          <a:solidFill>
            <a:srgbClr val="16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0" y="2084831"/>
            <a:ext cx="2606040" cy="731520"/>
          </a:xfrm>
          <a:prstGeom prst="rect">
            <a:avLst/>
          </a:prstGeom>
          <a:noFill/>
        </p:spPr>
        <p:txBody>
          <a:bodyPr wrap="square" anchor="ctr" lIns="0" rIns="0" tIns="0" bIns="0">
            <a:spAutoFit/>
          </a:bodyPr>
          <a:lstStyle/>
          <a:p>
            <a:pPr algn="ctr">
              <a:spcAft>
                <a:spcPts val="0"/>
              </a:spcAft>
            </a:pPr>
            <a:r>
              <a:rPr sz="3200" b="1" i="0">
                <a:solidFill>
                  <a:srgbClr val="38BDF8"/>
                </a:solidFill>
                <a:latin typeface="Cambria"/>
              </a:rPr>
              <a:t>93%</a:t>
            </a:r>
          </a:p>
        </p:txBody>
      </p:sp>
      <p:sp>
        <p:nvSpPr>
          <p:cNvPr id="10" name="TextBox 9"/>
          <p:cNvSpPr txBox="1"/>
          <p:nvPr/>
        </p:nvSpPr>
        <p:spPr>
          <a:xfrm>
            <a:off x="3383280" y="2788920"/>
            <a:ext cx="2606040" cy="411480"/>
          </a:xfrm>
          <a:prstGeom prst="rect">
            <a:avLst/>
          </a:prstGeom>
          <a:noFill/>
        </p:spPr>
        <p:txBody>
          <a:bodyPr wrap="square" anchor="t" lIns="0" rIns="0" tIns="0" bIns="0">
            <a:spAutoFit/>
          </a:bodyPr>
          <a:lstStyle/>
          <a:p>
            <a:pPr algn="ctr">
              <a:spcAft>
                <a:spcPts val="0"/>
              </a:spcAft>
            </a:pPr>
            <a:r>
              <a:rPr sz="1300" b="0" i="0">
                <a:solidFill>
                  <a:srgbClr val="94A3B8"/>
                </a:solidFill>
                <a:latin typeface="Calibri"/>
              </a:rPr>
              <a:t>capability</a:t>
            </a:r>
          </a:p>
        </p:txBody>
      </p:sp>
      <p:sp>
        <p:nvSpPr>
          <p:cNvPr id="11" name="Rounded Rectangle 10"/>
          <p:cNvSpPr/>
          <p:nvPr/>
        </p:nvSpPr>
        <p:spPr>
          <a:xfrm>
            <a:off x="6126480" y="1920240"/>
            <a:ext cx="2606040" cy="1371600"/>
          </a:xfrm>
          <a:prstGeom prst="roundRect">
            <a:avLst>
              <a:gd name="adj" fmla="val 8000"/>
            </a:avLst>
          </a:prstGeom>
          <a:solidFill>
            <a:srgbClr val="16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80" y="2084831"/>
            <a:ext cx="2606040" cy="731520"/>
          </a:xfrm>
          <a:prstGeom prst="rect">
            <a:avLst/>
          </a:prstGeom>
          <a:noFill/>
        </p:spPr>
        <p:txBody>
          <a:bodyPr wrap="square" anchor="ctr" lIns="0" rIns="0" tIns="0" bIns="0">
            <a:spAutoFit/>
          </a:bodyPr>
          <a:lstStyle/>
          <a:p>
            <a:pPr algn="ctr">
              <a:spcAft>
                <a:spcPts val="0"/>
              </a:spcAft>
            </a:pPr>
            <a:r>
              <a:rPr sz="3200" b="1" i="0">
                <a:solidFill>
                  <a:srgbClr val="38BDF8"/>
                </a:solidFill>
                <a:latin typeface="Cambria"/>
              </a:rPr>
              <a:t>20→50%</a:t>
            </a:r>
          </a:p>
        </p:txBody>
      </p:sp>
      <p:sp>
        <p:nvSpPr>
          <p:cNvPr id="13" name="TextBox 12"/>
          <p:cNvSpPr txBox="1"/>
          <p:nvPr/>
        </p:nvSpPr>
        <p:spPr>
          <a:xfrm>
            <a:off x="6126480" y="2788920"/>
            <a:ext cx="2606040" cy="411480"/>
          </a:xfrm>
          <a:prstGeom prst="rect">
            <a:avLst/>
          </a:prstGeom>
          <a:noFill/>
        </p:spPr>
        <p:txBody>
          <a:bodyPr wrap="square" anchor="t" lIns="0" rIns="0" tIns="0" bIns="0">
            <a:spAutoFit/>
          </a:bodyPr>
          <a:lstStyle/>
          <a:p>
            <a:pPr algn="ctr">
              <a:spcAft>
                <a:spcPts val="0"/>
              </a:spcAft>
            </a:pPr>
            <a:r>
              <a:rPr sz="1300" b="0" i="0">
                <a:solidFill>
                  <a:srgbClr val="94A3B8"/>
                </a:solidFill>
                <a:latin typeface="Calibri"/>
              </a:rPr>
              <a:t>on FinanceBench</a:t>
            </a:r>
          </a:p>
        </p:txBody>
      </p:sp>
      <p:sp>
        <p:nvSpPr>
          <p:cNvPr id="14" name="Rounded Rectangle 13"/>
          <p:cNvSpPr/>
          <p:nvPr/>
        </p:nvSpPr>
        <p:spPr>
          <a:xfrm>
            <a:off x="8869680" y="1920240"/>
            <a:ext cx="2606040" cy="1371600"/>
          </a:xfrm>
          <a:prstGeom prst="roundRect">
            <a:avLst>
              <a:gd name="adj" fmla="val 8000"/>
            </a:avLst>
          </a:prstGeom>
          <a:solidFill>
            <a:srgbClr val="16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0" y="2084831"/>
            <a:ext cx="2606040" cy="731520"/>
          </a:xfrm>
          <a:prstGeom prst="rect">
            <a:avLst/>
          </a:prstGeom>
          <a:noFill/>
        </p:spPr>
        <p:txBody>
          <a:bodyPr wrap="square" anchor="ctr" lIns="0" rIns="0" tIns="0" bIns="0">
            <a:spAutoFit/>
          </a:bodyPr>
          <a:lstStyle/>
          <a:p>
            <a:pPr algn="ctr">
              <a:spcAft>
                <a:spcPts val="0"/>
              </a:spcAft>
            </a:pPr>
            <a:r>
              <a:rPr sz="3200" b="1" i="0">
                <a:solidFill>
                  <a:srgbClr val="38BDF8"/>
                </a:solidFill>
                <a:latin typeface="Cambria"/>
              </a:rPr>
              <a:t>Live</a:t>
            </a:r>
          </a:p>
        </p:txBody>
      </p:sp>
      <p:sp>
        <p:nvSpPr>
          <p:cNvPr id="16" name="TextBox 15"/>
          <p:cNvSpPr txBox="1"/>
          <p:nvPr/>
        </p:nvSpPr>
        <p:spPr>
          <a:xfrm>
            <a:off x="8869680" y="2788920"/>
            <a:ext cx="2606040" cy="411480"/>
          </a:xfrm>
          <a:prstGeom prst="rect">
            <a:avLst/>
          </a:prstGeom>
          <a:noFill/>
        </p:spPr>
        <p:txBody>
          <a:bodyPr wrap="square" anchor="t" lIns="0" rIns="0" tIns="0" bIns="0">
            <a:spAutoFit/>
          </a:bodyPr>
          <a:lstStyle/>
          <a:p>
            <a:pPr algn="ctr">
              <a:spcAft>
                <a:spcPts val="0"/>
              </a:spcAft>
            </a:pPr>
            <a:r>
              <a:rPr sz="1300" b="0" i="0">
                <a:solidFill>
                  <a:srgbClr val="94A3B8"/>
                </a:solidFill>
                <a:latin typeface="Calibri"/>
              </a:rPr>
              <a:t>on the web</a:t>
            </a:r>
          </a:p>
        </p:txBody>
      </p:sp>
      <p:sp>
        <p:nvSpPr>
          <p:cNvPr id="17" name="TextBox 16"/>
          <p:cNvSpPr txBox="1"/>
          <p:nvPr/>
        </p:nvSpPr>
        <p:spPr>
          <a:xfrm>
            <a:off x="640080" y="3703320"/>
            <a:ext cx="10972800" cy="457200"/>
          </a:xfrm>
          <a:prstGeom prst="rect">
            <a:avLst/>
          </a:prstGeom>
          <a:noFill/>
        </p:spPr>
        <p:txBody>
          <a:bodyPr wrap="square" anchor="t" lIns="0" rIns="0" tIns="0" bIns="0">
            <a:spAutoFit/>
          </a:bodyPr>
          <a:lstStyle/>
          <a:p>
            <a:pPr algn="l">
              <a:spcAft>
                <a:spcPts val="600"/>
              </a:spcAft>
            </a:pPr>
            <a:r>
              <a:rPr sz="1600" b="1" i="0">
                <a:solidFill>
                  <a:srgbClr val="FFFFFF"/>
                </a:solidFill>
                <a:latin typeface="Calibri"/>
              </a:rPr>
              <a:t>Try it live:   </a:t>
            </a:r>
            <a:r>
              <a:rPr sz="1600" b="0" i="0">
                <a:solidFill>
                  <a:srgbClr val="38BDF8"/>
                </a:solidFill>
                <a:latin typeface="Consolas"/>
              </a:rPr>
              <a:t>huggingface.co/spaces/dahutapea/Finchat</a:t>
            </a:r>
          </a:p>
        </p:txBody>
      </p:sp>
      <p:sp>
        <p:nvSpPr>
          <p:cNvPr id="18" name="TextBox 17"/>
          <p:cNvSpPr txBox="1"/>
          <p:nvPr/>
        </p:nvSpPr>
        <p:spPr>
          <a:xfrm>
            <a:off x="640080" y="4343400"/>
            <a:ext cx="10972800" cy="457200"/>
          </a:xfrm>
          <a:prstGeom prst="rect">
            <a:avLst/>
          </a:prstGeom>
          <a:noFill/>
        </p:spPr>
        <p:txBody>
          <a:bodyPr wrap="square" anchor="t" lIns="0" rIns="0" tIns="0" bIns="0">
            <a:spAutoFit/>
          </a:bodyPr>
          <a:lstStyle/>
          <a:p>
            <a:pPr algn="l">
              <a:spcAft>
                <a:spcPts val="600"/>
              </a:spcAft>
            </a:pPr>
            <a:r>
              <a:rPr sz="1500" b="1" i="0">
                <a:solidFill>
                  <a:srgbClr val="10B981"/>
                </a:solidFill>
                <a:latin typeface="Calibri"/>
              </a:rPr>
              <a:t>What's next:   </a:t>
            </a:r>
            <a:r>
              <a:rPr sz="1500" b="0" i="0">
                <a:solidFill>
                  <a:srgbClr val="94A3B8"/>
                </a:solidFill>
                <a:latin typeface="Calibri"/>
              </a:rPr>
              <a:t>multi-step reasoning questions, a stronger search model, and more companies.</a:t>
            </a:r>
          </a:p>
        </p:txBody>
      </p:sp>
      <p:sp>
        <p:nvSpPr>
          <p:cNvPr id="19" name="TextBox 18"/>
          <p:cNvSpPr txBox="1"/>
          <p:nvPr/>
        </p:nvSpPr>
        <p:spPr>
          <a:xfrm>
            <a:off x="640080" y="5760720"/>
            <a:ext cx="10972800" cy="548640"/>
          </a:xfrm>
          <a:prstGeom prst="rect">
            <a:avLst/>
          </a:prstGeom>
          <a:noFill/>
        </p:spPr>
        <p:txBody>
          <a:bodyPr wrap="square" anchor="t" lIns="0" rIns="0" tIns="0" bIns="0">
            <a:spAutoFit/>
          </a:bodyPr>
          <a:lstStyle/>
          <a:p>
            <a:pPr algn="l">
              <a:spcAft>
                <a:spcPts val="600"/>
              </a:spcAft>
            </a:pPr>
            <a:r>
              <a:rPr sz="2200" b="1" i="0">
                <a:solidFill>
                  <a:srgbClr val="FFFFFF"/>
                </a:solidFill>
                <a:latin typeface="Cambria"/>
              </a:rPr>
              <a:t>Thank you - 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